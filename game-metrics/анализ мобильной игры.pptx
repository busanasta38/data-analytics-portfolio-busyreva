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heme/themeOverride7.xml" ContentType="application/vnd.openxmlformats-officedocument.themeOverride+xml"/>
  <Override PartName="/ppt/charts/colors8.xml" ContentType="application/vnd.ms-office.chartcolorstyle+xml"/>
  <Override PartName="/ppt/charts/style2.xml" ContentType="application/vnd.ms-office.chart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5.xml" ContentType="application/vnd.openxmlformats-officedocument.themeOverride+xml"/>
  <Override PartName="/ppt/charts/colors6.xml" ContentType="application/vnd.ms-office.chartcolorstyl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3.xml" ContentType="application/vnd.openxmlformats-officedocument.themeOverride+xml"/>
  <Override PartName="/ppt/charts/colors4.xml" ContentType="application/vnd.ms-office.chartcolorstyle+xml"/>
  <Default Extension="rels" ContentType="application/vnd.openxmlformats-package.relationships+xml"/>
  <Default Extension="xml" ContentType="application/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charts/colors2.xml" ContentType="application/vnd.ms-office.chartcolorstyl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harts/chart9.xml" ContentType="application/vnd.openxmlformats-officedocument.drawingml.chart+xml"/>
  <Override PartName="/ppt/slideLayouts/slideLayout10.xml" ContentType="application/vnd.openxmlformats-officedocument.presentationml.slideLayou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10.xml" ContentType="application/vnd.openxmlformats-officedocument.drawingml.chart+xml"/>
  <Override PartName="/ppt/charts/style9.xml" ContentType="application/vnd.ms-office.chartstyle+xml"/>
  <Override PartName="/ppt/charts/style8.xml" ContentType="application/vnd.ms-office.chartstyle+xml"/>
  <Override PartName="/ppt/charts/style7.xml" ContentType="application/vnd.ms-office.chartstyle+xml"/>
  <Default Extension="xlsx" ContentType="application/vnd.openxmlformats-officedocument.spreadsheetml.sheet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6.xml" ContentType="application/vnd.ms-office.chartstyle+xml"/>
  <Override PartName="/ppt/charts/style5.xml" ContentType="application/vnd.ms-office.chartstyl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Override9.xml" ContentType="application/vnd.openxmlformats-officedocument.themeOverride+xml"/>
  <Override PartName="/docProps/core.xml" ContentType="application/vnd.openxmlformats-package.core-properties+xml"/>
  <Override PartName="/ppt/charts/style4.xml" ContentType="application/vnd.ms-office.chartstyle+xml"/>
  <Override PartName="/ppt/charts/style3.xml" ContentType="application/vnd.ms-office.chartstyle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Override8.xml" ContentType="application/vnd.openxmlformats-officedocument.themeOverride+xml"/>
  <Override PartName="/ppt/charts/colors9.xml" ContentType="application/vnd.ms-office.chartcolorstyle+xml"/>
  <Override PartName="/ppt/charts/style1.xml" ContentType="application/vnd.ms-office.chartstyl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Override6.xml" ContentType="application/vnd.openxmlformats-officedocument.themeOverride+xml"/>
  <Override PartName="/ppt/charts/colors7.xml" ContentType="application/vnd.ms-office.chartcolorstyl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Override4.xml" ContentType="application/vnd.openxmlformats-officedocument.themeOverride+xml"/>
  <Default Extension="jpeg" ContentType="image/jpeg"/>
  <Override PartName="/ppt/charts/colors5.xml" ContentType="application/vnd.ms-office.chartcolorstyl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charts/colors3.xml" ContentType="application/vnd.ms-office.chartcolorstyle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charts/chart8.xml" ContentType="application/vnd.openxmlformats-officedocument.drawingml.chart+xml"/>
  <Override PartName="/ppt/charts/colors1.xml" ContentType="application/vnd.ms-office.chartcolor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5" r:id="rId4"/>
    <p:sldId id="260" r:id="rId5"/>
    <p:sldId id="259" r:id="rId6"/>
    <p:sldId id="261" r:id="rId7"/>
    <p:sldId id="266" r:id="rId8"/>
    <p:sldId id="262" r:id="rId9"/>
    <p:sldId id="263" r:id="rId10"/>
    <p:sldId id="264" r:id="rId11"/>
    <p:sldId id="26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-126" y="-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openxmlformats.org/officeDocument/2006/relationships/oleObject" Target="file:///C:\&#1040;&#1081;&#1083;&#1072;\&#1040;&#1085;&#1072;&#1083;&#1080;&#1090;&#1080;&#1082;%20&#1076;&#1072;&#1085;&#1085;&#1099;&#1093;\&#1050;&#1091;&#1088;&#1089;%20&#1057;&#1082;&#1072;&#1081;&#1087;&#1088;&#1086;\&#1059;&#1088;&#1086;&#1082;&#1080;\sql\&#1082;&#1091;&#1088;&#1089;&#1086;&#1074;&#1072;&#1103;\&#1051;&#1080;&#1089;&#1090;%20Microsoft%20Excel.xlsx" TargetMode="External"/><Relationship Id="rId1" Type="http://schemas.openxmlformats.org/officeDocument/2006/relationships/themeOverride" Target="../theme/themeOverride1.xml"/><Relationship Id="rId4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openxmlformats.org/officeDocument/2006/relationships/package" Target="../embeddings/_____Microsoft_Office_Excel1.xlsx"/><Relationship Id="rId1" Type="http://schemas.openxmlformats.org/officeDocument/2006/relationships/themeOverride" Target="../theme/themeOverride2.xml"/><Relationship Id="rId4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openxmlformats.org/officeDocument/2006/relationships/oleObject" Target="file:///C:\Users\User\Downloads\query_result_2026-04-22T08_40_03.916555566Z.xlsx" TargetMode="External"/><Relationship Id="rId1" Type="http://schemas.openxmlformats.org/officeDocument/2006/relationships/themeOverride" Target="../theme/themeOverride3.xml"/><Relationship Id="rId4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Office_Excel2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openxmlformats.org/officeDocument/2006/relationships/oleObject" Target="file:///C:\Users\User\Downloads\22%2009_40_3869bfb916980580.03502994&#1079;&#1072;&#1076;&#1072;&#1085;&#1080;&#1077;1.xlsx" TargetMode="External"/><Relationship Id="rId1" Type="http://schemas.openxmlformats.org/officeDocument/2006/relationships/themeOverride" Target="../theme/themeOverride4.xml"/><Relationship Id="rId4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openxmlformats.org/officeDocument/2006/relationships/oleObject" Target="file:///C:\Users\User\Downloads\22%2009_40_3869bfb916980580.03502994&#1079;&#1072;&#1076;&#1072;&#1085;&#1080;&#1077;1.xlsx" TargetMode="External"/><Relationship Id="rId1" Type="http://schemas.openxmlformats.org/officeDocument/2006/relationships/themeOverride" Target="../theme/themeOverride5.xml"/><Relationship Id="rId4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openxmlformats.org/officeDocument/2006/relationships/oleObject" Target="file:///C:\Users\User\Downloads\query_result_2026-04-22T11_51_33.12997847Z.xlsx" TargetMode="External"/><Relationship Id="rId1" Type="http://schemas.openxmlformats.org/officeDocument/2006/relationships/themeOverride" Target="../theme/themeOverride6.xml"/><Relationship Id="rId4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openxmlformats.org/officeDocument/2006/relationships/oleObject" Target="file:///C:\Users\User\Downloads\query_result_2026-04-22T12_05_48.577339661Z.xlsx" TargetMode="External"/><Relationship Id="rId1" Type="http://schemas.openxmlformats.org/officeDocument/2006/relationships/themeOverride" Target="../theme/themeOverride7.xml"/><Relationship Id="rId4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openxmlformats.org/officeDocument/2006/relationships/oleObject" Target="file:///C:\Users\User\Downloads\query_result_2026-04-22T15_26_14.646780318Z.xlsx" TargetMode="External"/><Relationship Id="rId1" Type="http://schemas.openxmlformats.org/officeDocument/2006/relationships/themeOverride" Target="../theme/themeOverride8.xml"/><Relationship Id="rId4" Type="http://schemas.microsoft.com/office/2011/relationships/chartStyle" Target="style8.xml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openxmlformats.org/officeDocument/2006/relationships/oleObject" Target="file:///C:\Users\User\Downloads\query_result_2026-04-22T16_49_40.631674928Z.xlsx" TargetMode="External"/><Relationship Id="rId1" Type="http://schemas.openxmlformats.org/officeDocument/2006/relationships/themeOverride" Target="../theme/themeOverride9.xml"/><Relationship Id="rId4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Присоединение</a:t>
            </a:r>
            <a:r>
              <a:rPr lang="ru-RU" baseline="0" dirty="0"/>
              <a:t> новых игроков по месяцам </a:t>
            </a:r>
          </a:p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в 2022 - 2023</a:t>
            </a:r>
            <a:r>
              <a:rPr lang="ru-RU" baseline="0" dirty="0"/>
              <a:t> г.</a:t>
            </a:r>
            <a:endParaRPr lang="ru-RU" dirty="0"/>
          </a:p>
        </c:rich>
      </c:tx>
      <c:layout>
        <c:manualLayout>
          <c:xMode val="edge"/>
          <c:yMode val="edge"/>
          <c:x val="0.19070919902939626"/>
          <c:y val="2.7777824876910193E-2"/>
        </c:manualLayout>
      </c:layout>
      <c:spPr>
        <a:noFill/>
        <a:ln>
          <a:noFill/>
        </a:ln>
        <a:effectLst/>
      </c:spPr>
    </c:title>
    <c:plotArea>
      <c:layout/>
      <c:barChart>
        <c:barDir val="col"/>
        <c:grouping val="clustered"/>
        <c:ser>
          <c:idx val="0"/>
          <c:order val="0"/>
          <c:tx>
            <c:strRef>
              <c:f>Лист1!$B$1</c:f>
              <c:strCache>
                <c:ptCount val="1"/>
                <c:pt idx="0">
                  <c:v>Количество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Лист1!$A$2:$A$10</c:f>
              <c:strCache>
                <c:ptCount val="9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  <c:pt idx="3">
                  <c:v>октябрь</c:v>
                </c:pt>
                <c:pt idx="4">
                  <c:v>ноябрь</c:v>
                </c:pt>
                <c:pt idx="5">
                  <c:v>декабрь</c:v>
                </c:pt>
                <c:pt idx="6">
                  <c:v>январь</c:v>
                </c:pt>
                <c:pt idx="7">
                  <c:v>февраль</c:v>
                </c:pt>
                <c:pt idx="8">
                  <c:v>март</c:v>
                </c:pt>
              </c:strCache>
            </c:strRef>
          </c:cat>
          <c:val>
            <c:numRef>
              <c:f>Лист1!$B$2:$B$10</c:f>
              <c:numCache>
                <c:formatCode>General</c:formatCode>
                <c:ptCount val="9"/>
                <c:pt idx="0">
                  <c:v>259</c:v>
                </c:pt>
                <c:pt idx="1">
                  <c:v>235</c:v>
                </c:pt>
                <c:pt idx="2">
                  <c:v>257</c:v>
                </c:pt>
                <c:pt idx="3">
                  <c:v>263</c:v>
                </c:pt>
                <c:pt idx="4">
                  <c:v>255</c:v>
                </c:pt>
                <c:pt idx="5">
                  <c:v>255</c:v>
                </c:pt>
                <c:pt idx="6">
                  <c:v>415</c:v>
                </c:pt>
                <c:pt idx="7">
                  <c:v>458</c:v>
                </c:pt>
                <c:pt idx="8">
                  <c:v>681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E76E-4011-BAB0-13EB77B2131C}"/>
            </c:ext>
          </c:extLst>
        </c:ser>
        <c:dLbls/>
        <c:axId val="113635712"/>
        <c:axId val="113637632"/>
      </c:barChart>
      <c:catAx>
        <c:axId val="113635712"/>
        <c:scaling>
          <c:orientation val="minMax"/>
        </c:scaling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3637632"/>
        <c:crosses val="autoZero"/>
        <c:auto val="1"/>
        <c:lblAlgn val="ctr"/>
        <c:lblOffset val="100"/>
      </c:catAx>
      <c:valAx>
        <c:axId val="113637632"/>
        <c:scaling>
          <c:orientation val="minMax"/>
        </c:scaling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</a:t>
                </a:r>
                <a:r>
                  <a:rPr lang="ru-RU" baseline="0"/>
                  <a:t> игроков</a:t>
                </a:r>
                <a:endParaRPr lang="ru-RU"/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3635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clrMapOvr bg1="lt1" tx1="dk1" bg2="lt2" tx2="dk2" accent1="accent1" accent2="accent2" accent3="accent3" accent4="accent4" accent5="accent5" accent6="accent6" hlink="hlink" folHlink="folHlink"/>
  <c:chart>
    <c:title>
      <c:layout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plotArea>
      <c:layout/>
      <c:lineChart>
        <c:grouping val="standard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Доля длинных игровых сессий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'Результат запроса'!$A$2:$A$11</c:f>
              <c:strCache>
                <c:ptCount val="10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  <c:pt idx="3">
                  <c:v>октябрь</c:v>
                </c:pt>
                <c:pt idx="4">
                  <c:v>ноябрь</c:v>
                </c:pt>
                <c:pt idx="5">
                  <c:v>декабрь</c:v>
                </c:pt>
                <c:pt idx="6">
                  <c:v>январь</c:v>
                </c:pt>
                <c:pt idx="7">
                  <c:v>февраль</c:v>
                </c:pt>
                <c:pt idx="8">
                  <c:v>март</c:v>
                </c:pt>
                <c:pt idx="9">
                  <c:v>апрель</c:v>
                </c:pt>
              </c:strCache>
            </c:strRef>
          </c:cat>
          <c:val>
            <c:numRef>
              <c:f>'Результат запроса'!$B$2:$B$11</c:f>
              <c:numCache>
                <c:formatCode>#\ ##0.##</c:formatCode>
                <c:ptCount val="10"/>
                <c:pt idx="0">
                  <c:v>0.66811751904243744</c:v>
                </c:pt>
                <c:pt idx="1">
                  <c:v>0.69244288224956063</c:v>
                </c:pt>
                <c:pt idx="2">
                  <c:v>0.69154518950437327</c:v>
                </c:pt>
                <c:pt idx="3">
                  <c:v>0.6843559977888336</c:v>
                </c:pt>
                <c:pt idx="4">
                  <c:v>0.63607342378292098</c:v>
                </c:pt>
                <c:pt idx="5">
                  <c:v>0.56372549019607865</c:v>
                </c:pt>
                <c:pt idx="6">
                  <c:v>0.6501408450704228</c:v>
                </c:pt>
                <c:pt idx="7">
                  <c:v>0.66941128036228903</c:v>
                </c:pt>
                <c:pt idx="8">
                  <c:v>0.64261874197689361</c:v>
                </c:pt>
                <c:pt idx="9">
                  <c:v>0.70027752081406092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BB9-4B65-8FF0-3FE47102708A}"/>
            </c:ext>
          </c:extLst>
        </c:ser>
        <c:dLbls/>
        <c:marker val="1"/>
        <c:axId val="113892736"/>
        <c:axId val="114890240"/>
      </c:lineChart>
      <c:catAx>
        <c:axId val="113892736"/>
        <c:scaling>
          <c:orientation val="minMax"/>
        </c:scaling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4890240"/>
        <c:crosses val="autoZero"/>
        <c:auto val="1"/>
        <c:lblAlgn val="ctr"/>
        <c:lblOffset val="100"/>
      </c:catAx>
      <c:valAx>
        <c:axId val="114890240"/>
        <c:scaling>
          <c:orientation val="minMax"/>
        </c:scaling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Доля</a:t>
                </a:r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#\ ##0.##" sourceLinked="1"/>
        <c:maj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3892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</a:t>
            </a:r>
            <a:r>
              <a:rPr lang="ru-RU" baseline="0"/>
              <a:t> количества и среднего времени игровых сессий </a:t>
            </a:r>
            <a:endParaRPr lang="ru-RU"/>
          </a:p>
        </c:rich>
      </c:tx>
      <c:layout/>
      <c:spPr>
        <a:noFill/>
        <a:ln>
          <a:noFill/>
        </a:ln>
        <a:effectLst/>
      </c:spPr>
    </c:title>
    <c:plotArea>
      <c:layout/>
      <c:barChart>
        <c:barDir val="col"/>
        <c:grouping val="clustered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Кол-во сессий дольше 5 мин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'Результат запроса'!$A$2:$A$11</c:f>
              <c:strCache>
                <c:ptCount val="10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  <c:pt idx="3">
                  <c:v>октябрь</c:v>
                </c:pt>
                <c:pt idx="4">
                  <c:v>ноябрь</c:v>
                </c:pt>
                <c:pt idx="5">
                  <c:v>декабрь</c:v>
                </c:pt>
                <c:pt idx="6">
                  <c:v>январь</c:v>
                </c:pt>
                <c:pt idx="7">
                  <c:v>февраль</c:v>
                </c:pt>
                <c:pt idx="8">
                  <c:v>март</c:v>
                </c:pt>
                <c:pt idx="9">
                  <c:v>апрель</c:v>
                </c:pt>
              </c:strCache>
            </c:strRef>
          </c:cat>
          <c:val>
            <c:numRef>
              <c:f>'Результат запроса'!$B$2:$B$11</c:f>
              <c:numCache>
                <c:formatCode>#,##0</c:formatCode>
                <c:ptCount val="10"/>
                <c:pt idx="0">
                  <c:v>919</c:v>
                </c:pt>
                <c:pt idx="1">
                  <c:v>1707</c:v>
                </c:pt>
                <c:pt idx="2">
                  <c:v>1715</c:v>
                </c:pt>
                <c:pt idx="3">
                  <c:v>1809</c:v>
                </c:pt>
                <c:pt idx="4">
                  <c:v>1253</c:v>
                </c:pt>
                <c:pt idx="5">
                  <c:v>612</c:v>
                </c:pt>
                <c:pt idx="6">
                  <c:v>1775</c:v>
                </c:pt>
                <c:pt idx="7">
                  <c:v>2429</c:v>
                </c:pt>
                <c:pt idx="8">
                  <c:v>3895</c:v>
                </c:pt>
                <c:pt idx="9">
                  <c:v>3243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155B-452A-9FBD-7E44AB3AF299}"/>
            </c:ext>
          </c:extLst>
        </c:ser>
        <c:ser>
          <c:idx val="1"/>
          <c:order val="1"/>
          <c:tx>
            <c:strRef>
              <c:f>'Результат запроса'!$C$1</c:f>
              <c:strCache>
                <c:ptCount val="1"/>
                <c:pt idx="0">
                  <c:v>Доля длинных сессий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'Результат запроса'!$A$2:$A$11</c:f>
              <c:strCache>
                <c:ptCount val="10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  <c:pt idx="3">
                  <c:v>октябрь</c:v>
                </c:pt>
                <c:pt idx="4">
                  <c:v>ноябрь</c:v>
                </c:pt>
                <c:pt idx="5">
                  <c:v>декабрь</c:v>
                </c:pt>
                <c:pt idx="6">
                  <c:v>январь</c:v>
                </c:pt>
                <c:pt idx="7">
                  <c:v>февраль</c:v>
                </c:pt>
                <c:pt idx="8">
                  <c:v>март</c:v>
                </c:pt>
                <c:pt idx="9">
                  <c:v>апрель</c:v>
                </c:pt>
              </c:strCache>
            </c:strRef>
          </c:cat>
          <c:val>
            <c:numRef>
              <c:f>'Результат запроса'!$C$2:$C$11</c:f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155B-452A-9FBD-7E44AB3AF299}"/>
            </c:ext>
          </c:extLst>
        </c:ser>
        <c:dLbls/>
        <c:axId val="115232768"/>
        <c:axId val="115218304"/>
      </c:barChart>
      <c:lineChart>
        <c:grouping val="standard"/>
        <c:ser>
          <c:idx val="2"/>
          <c:order val="2"/>
          <c:tx>
            <c:strRef>
              <c:f>'Результат запроса'!$D$1</c:f>
              <c:strCache>
                <c:ptCount val="1"/>
                <c:pt idx="0">
                  <c:v>Длина средней игровой сессии, час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'Результат запроса'!$A$2:$A$11</c:f>
              <c:strCache>
                <c:ptCount val="10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  <c:pt idx="3">
                  <c:v>октябрь</c:v>
                </c:pt>
                <c:pt idx="4">
                  <c:v>ноябрь</c:v>
                </c:pt>
                <c:pt idx="5">
                  <c:v>декабрь</c:v>
                </c:pt>
                <c:pt idx="6">
                  <c:v>январь</c:v>
                </c:pt>
                <c:pt idx="7">
                  <c:v>февраль</c:v>
                </c:pt>
                <c:pt idx="8">
                  <c:v>март</c:v>
                </c:pt>
                <c:pt idx="9">
                  <c:v>апрель</c:v>
                </c:pt>
              </c:strCache>
            </c:strRef>
          </c:cat>
          <c:val>
            <c:numRef>
              <c:f>'Результат запроса'!$D$2:$D$11</c:f>
              <c:numCache>
                <c:formatCode>General</c:formatCode>
                <c:ptCount val="10"/>
                <c:pt idx="0">
                  <c:v>2.2200000000000002</c:v>
                </c:pt>
                <c:pt idx="1">
                  <c:v>2.3199999999999994</c:v>
                </c:pt>
                <c:pt idx="2">
                  <c:v>2.2799999999999998</c:v>
                </c:pt>
                <c:pt idx="3">
                  <c:v>2.3699999999999997</c:v>
                </c:pt>
                <c:pt idx="4">
                  <c:v>2.52</c:v>
                </c:pt>
                <c:pt idx="5">
                  <c:v>2.73</c:v>
                </c:pt>
                <c:pt idx="6">
                  <c:v>2.4</c:v>
                </c:pt>
                <c:pt idx="7">
                  <c:v>2.29</c:v>
                </c:pt>
                <c:pt idx="8">
                  <c:v>5.54</c:v>
                </c:pt>
                <c:pt idx="9">
                  <c:v>2.3299999999999996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55B-452A-9FBD-7E44AB3AF299}"/>
            </c:ext>
          </c:extLst>
        </c:ser>
        <c:dLbls/>
        <c:marker val="1"/>
        <c:axId val="115201920"/>
        <c:axId val="115216384"/>
      </c:lineChart>
      <c:catAx>
        <c:axId val="115201920"/>
        <c:scaling>
          <c:orientation val="minMax"/>
        </c:scaling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</a:p>
            </c:rich>
          </c:tx>
          <c:layout>
            <c:manualLayout>
              <c:xMode val="edge"/>
              <c:yMode val="edge"/>
              <c:x val="0.46466666666666673"/>
              <c:y val="0.7820363079615047"/>
            </c:manualLayout>
          </c:layout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5216384"/>
        <c:crosses val="autoZero"/>
        <c:auto val="1"/>
        <c:lblAlgn val="ctr"/>
        <c:lblOffset val="100"/>
      </c:catAx>
      <c:valAx>
        <c:axId val="115216384"/>
        <c:scaling>
          <c:orientation val="minMax"/>
        </c:scaling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Час</a:t>
                </a:r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5201920"/>
        <c:crosses val="autoZero"/>
        <c:crossBetween val="between"/>
      </c:valAx>
      <c:valAx>
        <c:axId val="115218304"/>
        <c:scaling>
          <c:orientation val="minMax"/>
        </c:scaling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</a:t>
                </a:r>
                <a:r>
                  <a:rPr lang="ru-RU" baseline="0"/>
                  <a:t> игровых сессий</a:t>
                </a:r>
                <a:endParaRPr lang="ru-RU"/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#,##0" sourceLinked="1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5232768"/>
        <c:crosses val="max"/>
        <c:crossBetween val="between"/>
      </c:valAx>
      <c:catAx>
        <c:axId val="115232768"/>
        <c:scaling>
          <c:orientation val="minMax"/>
        </c:scaling>
        <c:delete val="1"/>
        <c:axPos val="b"/>
        <c:numFmt formatCode="General" sourceLinked="1"/>
        <c:tickLblPos val="nextTo"/>
        <c:crossAx val="115218304"/>
        <c:crosses val="autoZero"/>
        <c:auto val="1"/>
        <c:lblAlgn val="ctr"/>
        <c:lblOffset val="100"/>
      </c:catAx>
      <c:spPr>
        <a:noFill/>
        <a:ln>
          <a:noFill/>
        </a:ln>
        <a:effectLst/>
      </c:spPr>
    </c:plotArea>
    <c:legend>
      <c:legendPos val="b"/>
      <c:layout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chart>
    <c:title>
      <c:layout/>
    </c:title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Количество проблемных строк</c:v>
                </c:pt>
              </c:strCache>
            </c:strRef>
          </c:tx>
          <c:dPt>
            <c:idx val="0"/>
            <c:spPr/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dirty="0"/>
                      <a:t>3 </a:t>
                    </a:r>
                    <a:r>
                      <a:rPr lang="en-US" dirty="0" smtClean="0"/>
                      <a:t>184</a:t>
                    </a:r>
                    <a:r>
                      <a:rPr lang="ru-RU" dirty="0" smtClean="0"/>
                      <a:t> (98%)</a:t>
                    </a:r>
                    <a:endParaRPr lang="en-US" dirty="0"/>
                  </a:p>
                </c:rich>
              </c:tx>
              <c:showVal val="1"/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dirty="0" smtClean="0"/>
                      <a:t>78</a:t>
                    </a:r>
                    <a:r>
                      <a:rPr lang="ru-RU" dirty="0" smtClean="0"/>
                      <a:t> (2%)</a:t>
                    </a:r>
                    <a:endParaRPr lang="en-US" dirty="0"/>
                  </a:p>
                </c:rich>
              </c:tx>
              <c:showVal val="1"/>
            </c:dLbl>
            <c:showVal val="1"/>
            <c:showLeaderLines val="1"/>
          </c:dLbls>
          <c:cat>
            <c:strRef>
              <c:f>Лист1!$A$2:$A$3</c:f>
              <c:strCache>
                <c:ptCount val="2"/>
                <c:pt idx="0">
                  <c:v>ios </c:v>
                </c:pt>
                <c:pt idx="1">
                  <c:v>android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 formatCode="#,##0">
                  <c:v>3184</c:v>
                </c:pt>
                <c:pt idx="1">
                  <c:v>78</c:v>
                </c:pt>
              </c:numCache>
            </c:numRef>
          </c:val>
        </c:ser>
        <c:firstSliceAng val="0"/>
      </c:pieChart>
    </c:plotArea>
    <c:legend>
      <c:legendPos val="r"/>
      <c:layout/>
    </c:legend>
    <c:plotVisOnly val="1"/>
  </c:chart>
  <c:spPr>
    <a:noFill/>
  </c:spPr>
  <c:txPr>
    <a:bodyPr/>
    <a:lstStyle/>
    <a:p>
      <a:pPr>
        <a:defRPr sz="1800"/>
      </a:pPr>
      <a:endParaRPr lang="ru-RU"/>
    </a:p>
  </c:tx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DAO,</a:t>
            </a:r>
            <a:r>
              <a:rPr lang="en-US" baseline="0"/>
              <a:t> WAU, MAU</a:t>
            </a:r>
            <a:endParaRPr lang="ru-RU"/>
          </a:p>
        </c:rich>
      </c:tx>
      <c:layout/>
      <c:spPr>
        <a:noFill/>
        <a:ln>
          <a:noFill/>
        </a:ln>
        <a:effectLst/>
      </c:spPr>
    </c:title>
    <c:plotArea>
      <c:layout/>
      <c:lineChart>
        <c:grouping val="standard"/>
        <c:ser>
          <c:idx val="0"/>
          <c:order val="0"/>
          <c:tx>
            <c:strRef>
              <c:f>общий!$D$1</c:f>
              <c:strCache>
                <c:ptCount val="1"/>
                <c:pt idx="0">
                  <c:v>dau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общий!$C$2:$C$121</c:f>
              <c:numCache>
                <c:formatCode>dd/mm/yyyy\ h:mm</c:formatCode>
                <c:ptCount val="120"/>
                <c:pt idx="0">
                  <c:v>44927</c:v>
                </c:pt>
                <c:pt idx="1">
                  <c:v>44928</c:v>
                </c:pt>
                <c:pt idx="2">
                  <c:v>44929</c:v>
                </c:pt>
                <c:pt idx="3">
                  <c:v>44930</c:v>
                </c:pt>
                <c:pt idx="4">
                  <c:v>44931</c:v>
                </c:pt>
                <c:pt idx="5">
                  <c:v>44932</c:v>
                </c:pt>
                <c:pt idx="6">
                  <c:v>44933</c:v>
                </c:pt>
                <c:pt idx="7">
                  <c:v>44934</c:v>
                </c:pt>
                <c:pt idx="8">
                  <c:v>44935</c:v>
                </c:pt>
                <c:pt idx="9">
                  <c:v>44936</c:v>
                </c:pt>
                <c:pt idx="10">
                  <c:v>44937</c:v>
                </c:pt>
                <c:pt idx="11">
                  <c:v>44938</c:v>
                </c:pt>
                <c:pt idx="12">
                  <c:v>44939</c:v>
                </c:pt>
                <c:pt idx="13">
                  <c:v>44940</c:v>
                </c:pt>
                <c:pt idx="14">
                  <c:v>44941</c:v>
                </c:pt>
                <c:pt idx="15">
                  <c:v>44942</c:v>
                </c:pt>
                <c:pt idx="16">
                  <c:v>44943</c:v>
                </c:pt>
                <c:pt idx="17">
                  <c:v>44944</c:v>
                </c:pt>
                <c:pt idx="18">
                  <c:v>44945</c:v>
                </c:pt>
                <c:pt idx="19">
                  <c:v>44946</c:v>
                </c:pt>
                <c:pt idx="20">
                  <c:v>44947</c:v>
                </c:pt>
                <c:pt idx="21">
                  <c:v>44948</c:v>
                </c:pt>
                <c:pt idx="22">
                  <c:v>44949</c:v>
                </c:pt>
                <c:pt idx="23">
                  <c:v>44950</c:v>
                </c:pt>
                <c:pt idx="24">
                  <c:v>44951</c:v>
                </c:pt>
                <c:pt idx="25">
                  <c:v>44952</c:v>
                </c:pt>
                <c:pt idx="26">
                  <c:v>44953</c:v>
                </c:pt>
                <c:pt idx="27">
                  <c:v>44954</c:v>
                </c:pt>
                <c:pt idx="28">
                  <c:v>44955</c:v>
                </c:pt>
                <c:pt idx="29">
                  <c:v>44956</c:v>
                </c:pt>
                <c:pt idx="30">
                  <c:v>44957</c:v>
                </c:pt>
                <c:pt idx="31">
                  <c:v>44958</c:v>
                </c:pt>
                <c:pt idx="32">
                  <c:v>44959</c:v>
                </c:pt>
                <c:pt idx="33">
                  <c:v>44960</c:v>
                </c:pt>
                <c:pt idx="34">
                  <c:v>44961</c:v>
                </c:pt>
                <c:pt idx="35">
                  <c:v>44962</c:v>
                </c:pt>
                <c:pt idx="36">
                  <c:v>44963</c:v>
                </c:pt>
                <c:pt idx="37">
                  <c:v>44964</c:v>
                </c:pt>
                <c:pt idx="38">
                  <c:v>44965</c:v>
                </c:pt>
                <c:pt idx="39">
                  <c:v>44966</c:v>
                </c:pt>
                <c:pt idx="40">
                  <c:v>44967</c:v>
                </c:pt>
                <c:pt idx="41">
                  <c:v>44968</c:v>
                </c:pt>
                <c:pt idx="42">
                  <c:v>44969</c:v>
                </c:pt>
                <c:pt idx="43">
                  <c:v>44970</c:v>
                </c:pt>
                <c:pt idx="44">
                  <c:v>44971</c:v>
                </c:pt>
                <c:pt idx="45">
                  <c:v>44972</c:v>
                </c:pt>
                <c:pt idx="46">
                  <c:v>44973</c:v>
                </c:pt>
                <c:pt idx="47">
                  <c:v>44974</c:v>
                </c:pt>
                <c:pt idx="48">
                  <c:v>44975</c:v>
                </c:pt>
                <c:pt idx="49">
                  <c:v>44976</c:v>
                </c:pt>
                <c:pt idx="50">
                  <c:v>44977</c:v>
                </c:pt>
                <c:pt idx="51">
                  <c:v>44978</c:v>
                </c:pt>
                <c:pt idx="52">
                  <c:v>44979</c:v>
                </c:pt>
                <c:pt idx="53">
                  <c:v>44980</c:v>
                </c:pt>
                <c:pt idx="54">
                  <c:v>44981</c:v>
                </c:pt>
                <c:pt idx="55">
                  <c:v>44982</c:v>
                </c:pt>
                <c:pt idx="56">
                  <c:v>44983</c:v>
                </c:pt>
                <c:pt idx="57">
                  <c:v>44984</c:v>
                </c:pt>
                <c:pt idx="58">
                  <c:v>44985</c:v>
                </c:pt>
                <c:pt idx="59">
                  <c:v>44986</c:v>
                </c:pt>
                <c:pt idx="60">
                  <c:v>44987</c:v>
                </c:pt>
                <c:pt idx="61">
                  <c:v>44988</c:v>
                </c:pt>
                <c:pt idx="62">
                  <c:v>44989</c:v>
                </c:pt>
                <c:pt idx="63">
                  <c:v>44990</c:v>
                </c:pt>
                <c:pt idx="64">
                  <c:v>44991</c:v>
                </c:pt>
                <c:pt idx="65">
                  <c:v>44992</c:v>
                </c:pt>
                <c:pt idx="66">
                  <c:v>44993</c:v>
                </c:pt>
                <c:pt idx="67">
                  <c:v>44994</c:v>
                </c:pt>
                <c:pt idx="68">
                  <c:v>44995</c:v>
                </c:pt>
                <c:pt idx="69">
                  <c:v>44996</c:v>
                </c:pt>
                <c:pt idx="70">
                  <c:v>44997</c:v>
                </c:pt>
                <c:pt idx="71">
                  <c:v>44998</c:v>
                </c:pt>
                <c:pt idx="72">
                  <c:v>44999</c:v>
                </c:pt>
                <c:pt idx="73">
                  <c:v>45000</c:v>
                </c:pt>
                <c:pt idx="74">
                  <c:v>45001</c:v>
                </c:pt>
                <c:pt idx="75">
                  <c:v>45002</c:v>
                </c:pt>
                <c:pt idx="76">
                  <c:v>45003</c:v>
                </c:pt>
                <c:pt idx="77">
                  <c:v>45004</c:v>
                </c:pt>
                <c:pt idx="78">
                  <c:v>45005</c:v>
                </c:pt>
                <c:pt idx="79">
                  <c:v>45006</c:v>
                </c:pt>
                <c:pt idx="80">
                  <c:v>45007</c:v>
                </c:pt>
                <c:pt idx="81">
                  <c:v>45008</c:v>
                </c:pt>
                <c:pt idx="82">
                  <c:v>45009</c:v>
                </c:pt>
                <c:pt idx="83">
                  <c:v>45010</c:v>
                </c:pt>
                <c:pt idx="84">
                  <c:v>45011</c:v>
                </c:pt>
                <c:pt idx="85">
                  <c:v>45012</c:v>
                </c:pt>
                <c:pt idx="86">
                  <c:v>45013</c:v>
                </c:pt>
                <c:pt idx="87">
                  <c:v>45014</c:v>
                </c:pt>
                <c:pt idx="88">
                  <c:v>45015</c:v>
                </c:pt>
                <c:pt idx="89">
                  <c:v>45016</c:v>
                </c:pt>
                <c:pt idx="90">
                  <c:v>45017</c:v>
                </c:pt>
                <c:pt idx="91">
                  <c:v>45018</c:v>
                </c:pt>
                <c:pt idx="92">
                  <c:v>45019</c:v>
                </c:pt>
                <c:pt idx="93">
                  <c:v>45020</c:v>
                </c:pt>
                <c:pt idx="94">
                  <c:v>45021</c:v>
                </c:pt>
                <c:pt idx="95">
                  <c:v>45022</c:v>
                </c:pt>
                <c:pt idx="96">
                  <c:v>45023</c:v>
                </c:pt>
                <c:pt idx="97">
                  <c:v>45024</c:v>
                </c:pt>
                <c:pt idx="98">
                  <c:v>45025</c:v>
                </c:pt>
                <c:pt idx="99">
                  <c:v>45026</c:v>
                </c:pt>
                <c:pt idx="100">
                  <c:v>45027</c:v>
                </c:pt>
                <c:pt idx="101">
                  <c:v>45028</c:v>
                </c:pt>
                <c:pt idx="102">
                  <c:v>45029</c:v>
                </c:pt>
                <c:pt idx="103">
                  <c:v>45030</c:v>
                </c:pt>
                <c:pt idx="104">
                  <c:v>45031</c:v>
                </c:pt>
                <c:pt idx="105">
                  <c:v>45032</c:v>
                </c:pt>
                <c:pt idx="106">
                  <c:v>45033</c:v>
                </c:pt>
                <c:pt idx="107">
                  <c:v>45034</c:v>
                </c:pt>
                <c:pt idx="108">
                  <c:v>45035</c:v>
                </c:pt>
                <c:pt idx="109">
                  <c:v>45036</c:v>
                </c:pt>
                <c:pt idx="110">
                  <c:v>45037</c:v>
                </c:pt>
                <c:pt idx="111">
                  <c:v>45038</c:v>
                </c:pt>
                <c:pt idx="112">
                  <c:v>45039</c:v>
                </c:pt>
                <c:pt idx="113">
                  <c:v>45040</c:v>
                </c:pt>
                <c:pt idx="114">
                  <c:v>45041</c:v>
                </c:pt>
                <c:pt idx="115">
                  <c:v>45042</c:v>
                </c:pt>
                <c:pt idx="116">
                  <c:v>45043</c:v>
                </c:pt>
                <c:pt idx="117">
                  <c:v>45044</c:v>
                </c:pt>
                <c:pt idx="118">
                  <c:v>45045</c:v>
                </c:pt>
                <c:pt idx="119">
                  <c:v>45046</c:v>
                </c:pt>
              </c:numCache>
            </c:numRef>
          </c:cat>
          <c:val>
            <c:numRef>
              <c:f>общий!$D$2:$D$121</c:f>
              <c:numCache>
                <c:formatCode>General</c:formatCode>
                <c:ptCount val="120"/>
                <c:pt idx="0">
                  <c:v>24</c:v>
                </c:pt>
                <c:pt idx="1">
                  <c:v>35</c:v>
                </c:pt>
                <c:pt idx="2">
                  <c:v>40</c:v>
                </c:pt>
                <c:pt idx="3">
                  <c:v>46</c:v>
                </c:pt>
                <c:pt idx="4">
                  <c:v>36</c:v>
                </c:pt>
                <c:pt idx="5">
                  <c:v>46</c:v>
                </c:pt>
                <c:pt idx="6">
                  <c:v>35</c:v>
                </c:pt>
                <c:pt idx="7">
                  <c:v>53</c:v>
                </c:pt>
                <c:pt idx="8">
                  <c:v>53</c:v>
                </c:pt>
                <c:pt idx="9">
                  <c:v>52</c:v>
                </c:pt>
                <c:pt idx="10">
                  <c:v>65</c:v>
                </c:pt>
                <c:pt idx="11">
                  <c:v>52</c:v>
                </c:pt>
                <c:pt idx="12">
                  <c:v>62</c:v>
                </c:pt>
                <c:pt idx="13">
                  <c:v>77</c:v>
                </c:pt>
                <c:pt idx="14">
                  <c:v>61</c:v>
                </c:pt>
                <c:pt idx="15">
                  <c:v>70</c:v>
                </c:pt>
                <c:pt idx="16">
                  <c:v>66</c:v>
                </c:pt>
                <c:pt idx="17">
                  <c:v>73</c:v>
                </c:pt>
                <c:pt idx="18">
                  <c:v>73</c:v>
                </c:pt>
                <c:pt idx="19">
                  <c:v>80</c:v>
                </c:pt>
                <c:pt idx="20">
                  <c:v>75</c:v>
                </c:pt>
                <c:pt idx="21">
                  <c:v>90</c:v>
                </c:pt>
                <c:pt idx="22">
                  <c:v>78</c:v>
                </c:pt>
                <c:pt idx="23">
                  <c:v>90</c:v>
                </c:pt>
                <c:pt idx="24">
                  <c:v>88</c:v>
                </c:pt>
                <c:pt idx="25">
                  <c:v>83</c:v>
                </c:pt>
                <c:pt idx="26">
                  <c:v>92</c:v>
                </c:pt>
                <c:pt idx="27">
                  <c:v>99</c:v>
                </c:pt>
                <c:pt idx="28">
                  <c:v>93</c:v>
                </c:pt>
                <c:pt idx="29">
                  <c:v>115</c:v>
                </c:pt>
                <c:pt idx="30">
                  <c:v>108</c:v>
                </c:pt>
                <c:pt idx="31">
                  <c:v>112</c:v>
                </c:pt>
                <c:pt idx="32">
                  <c:v>86</c:v>
                </c:pt>
                <c:pt idx="33">
                  <c:v>98</c:v>
                </c:pt>
                <c:pt idx="34">
                  <c:v>100</c:v>
                </c:pt>
                <c:pt idx="35">
                  <c:v>95</c:v>
                </c:pt>
                <c:pt idx="36">
                  <c:v>98</c:v>
                </c:pt>
                <c:pt idx="37">
                  <c:v>90</c:v>
                </c:pt>
                <c:pt idx="38">
                  <c:v>107</c:v>
                </c:pt>
                <c:pt idx="39">
                  <c:v>101</c:v>
                </c:pt>
                <c:pt idx="40">
                  <c:v>104</c:v>
                </c:pt>
                <c:pt idx="41">
                  <c:v>98</c:v>
                </c:pt>
                <c:pt idx="42">
                  <c:v>101</c:v>
                </c:pt>
                <c:pt idx="43">
                  <c:v>94</c:v>
                </c:pt>
                <c:pt idx="44">
                  <c:v>108</c:v>
                </c:pt>
                <c:pt idx="45">
                  <c:v>103</c:v>
                </c:pt>
                <c:pt idx="46">
                  <c:v>95</c:v>
                </c:pt>
                <c:pt idx="47">
                  <c:v>107</c:v>
                </c:pt>
                <c:pt idx="48">
                  <c:v>116</c:v>
                </c:pt>
                <c:pt idx="49">
                  <c:v>109</c:v>
                </c:pt>
                <c:pt idx="50">
                  <c:v>84</c:v>
                </c:pt>
                <c:pt idx="51">
                  <c:v>98</c:v>
                </c:pt>
                <c:pt idx="52">
                  <c:v>115</c:v>
                </c:pt>
                <c:pt idx="53">
                  <c:v>95</c:v>
                </c:pt>
                <c:pt idx="54">
                  <c:v>106</c:v>
                </c:pt>
                <c:pt idx="55">
                  <c:v>118</c:v>
                </c:pt>
                <c:pt idx="56">
                  <c:v>127</c:v>
                </c:pt>
                <c:pt idx="57">
                  <c:v>104</c:v>
                </c:pt>
                <c:pt idx="58">
                  <c:v>131</c:v>
                </c:pt>
                <c:pt idx="59">
                  <c:v>130</c:v>
                </c:pt>
                <c:pt idx="60">
                  <c:v>138</c:v>
                </c:pt>
                <c:pt idx="61">
                  <c:v>167</c:v>
                </c:pt>
                <c:pt idx="62">
                  <c:v>170</c:v>
                </c:pt>
                <c:pt idx="63">
                  <c:v>165</c:v>
                </c:pt>
                <c:pt idx="64">
                  <c:v>149</c:v>
                </c:pt>
                <c:pt idx="65">
                  <c:v>151</c:v>
                </c:pt>
                <c:pt idx="66">
                  <c:v>173</c:v>
                </c:pt>
                <c:pt idx="67">
                  <c:v>150</c:v>
                </c:pt>
                <c:pt idx="68">
                  <c:v>162</c:v>
                </c:pt>
                <c:pt idx="69">
                  <c:v>175</c:v>
                </c:pt>
                <c:pt idx="70">
                  <c:v>176</c:v>
                </c:pt>
                <c:pt idx="71">
                  <c:v>180</c:v>
                </c:pt>
                <c:pt idx="72">
                  <c:v>168</c:v>
                </c:pt>
                <c:pt idx="73">
                  <c:v>185</c:v>
                </c:pt>
                <c:pt idx="74">
                  <c:v>181</c:v>
                </c:pt>
                <c:pt idx="75">
                  <c:v>172</c:v>
                </c:pt>
                <c:pt idx="76">
                  <c:v>187</c:v>
                </c:pt>
                <c:pt idx="77">
                  <c:v>218</c:v>
                </c:pt>
                <c:pt idx="78">
                  <c:v>184</c:v>
                </c:pt>
                <c:pt idx="79">
                  <c:v>194</c:v>
                </c:pt>
                <c:pt idx="80">
                  <c:v>131</c:v>
                </c:pt>
                <c:pt idx="81">
                  <c:v>176</c:v>
                </c:pt>
                <c:pt idx="82">
                  <c:v>136</c:v>
                </c:pt>
                <c:pt idx="83">
                  <c:v>153</c:v>
                </c:pt>
                <c:pt idx="84">
                  <c:v>159</c:v>
                </c:pt>
                <c:pt idx="85">
                  <c:v>143</c:v>
                </c:pt>
                <c:pt idx="86">
                  <c:v>156</c:v>
                </c:pt>
                <c:pt idx="87">
                  <c:v>151</c:v>
                </c:pt>
                <c:pt idx="88">
                  <c:v>148</c:v>
                </c:pt>
                <c:pt idx="89">
                  <c:v>184</c:v>
                </c:pt>
                <c:pt idx="90">
                  <c:v>204</c:v>
                </c:pt>
                <c:pt idx="91">
                  <c:v>215</c:v>
                </c:pt>
                <c:pt idx="92">
                  <c:v>198</c:v>
                </c:pt>
                <c:pt idx="93">
                  <c:v>199</c:v>
                </c:pt>
                <c:pt idx="94">
                  <c:v>188</c:v>
                </c:pt>
                <c:pt idx="95">
                  <c:v>197</c:v>
                </c:pt>
                <c:pt idx="96">
                  <c:v>192</c:v>
                </c:pt>
                <c:pt idx="97">
                  <c:v>200</c:v>
                </c:pt>
                <c:pt idx="98">
                  <c:v>192</c:v>
                </c:pt>
                <c:pt idx="99">
                  <c:v>172</c:v>
                </c:pt>
                <c:pt idx="100">
                  <c:v>160</c:v>
                </c:pt>
                <c:pt idx="101">
                  <c:v>168</c:v>
                </c:pt>
                <c:pt idx="102">
                  <c:v>171</c:v>
                </c:pt>
                <c:pt idx="103">
                  <c:v>154</c:v>
                </c:pt>
                <c:pt idx="104">
                  <c:v>146</c:v>
                </c:pt>
                <c:pt idx="105">
                  <c:v>166</c:v>
                </c:pt>
                <c:pt idx="106">
                  <c:v>134</c:v>
                </c:pt>
                <c:pt idx="107">
                  <c:v>149</c:v>
                </c:pt>
                <c:pt idx="108">
                  <c:v>132</c:v>
                </c:pt>
                <c:pt idx="109">
                  <c:v>131</c:v>
                </c:pt>
                <c:pt idx="110">
                  <c:v>104</c:v>
                </c:pt>
                <c:pt idx="111">
                  <c:v>105</c:v>
                </c:pt>
                <c:pt idx="112">
                  <c:v>105</c:v>
                </c:pt>
                <c:pt idx="113">
                  <c:v>90</c:v>
                </c:pt>
                <c:pt idx="114">
                  <c:v>101</c:v>
                </c:pt>
                <c:pt idx="115">
                  <c:v>92</c:v>
                </c:pt>
                <c:pt idx="116">
                  <c:v>68</c:v>
                </c:pt>
                <c:pt idx="117">
                  <c:v>75</c:v>
                </c:pt>
                <c:pt idx="118">
                  <c:v>73</c:v>
                </c:pt>
                <c:pt idx="119">
                  <c:v>71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47E-48D7-A32D-FAB0D1EBD5D2}"/>
            </c:ext>
          </c:extLst>
        </c:ser>
        <c:ser>
          <c:idx val="1"/>
          <c:order val="1"/>
          <c:tx>
            <c:strRef>
              <c:f>общий!$E$1</c:f>
              <c:strCache>
                <c:ptCount val="1"/>
                <c:pt idx="0">
                  <c:v>wau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общий!$C$2:$C$121</c:f>
              <c:numCache>
                <c:formatCode>dd/mm/yyyy\ h:mm</c:formatCode>
                <c:ptCount val="120"/>
                <c:pt idx="0">
                  <c:v>44927</c:v>
                </c:pt>
                <c:pt idx="1">
                  <c:v>44928</c:v>
                </c:pt>
                <c:pt idx="2">
                  <c:v>44929</c:v>
                </c:pt>
                <c:pt idx="3">
                  <c:v>44930</c:v>
                </c:pt>
                <c:pt idx="4">
                  <c:v>44931</c:v>
                </c:pt>
                <c:pt idx="5">
                  <c:v>44932</c:v>
                </c:pt>
                <c:pt idx="6">
                  <c:v>44933</c:v>
                </c:pt>
                <c:pt idx="7">
                  <c:v>44934</c:v>
                </c:pt>
                <c:pt idx="8">
                  <c:v>44935</c:v>
                </c:pt>
                <c:pt idx="9">
                  <c:v>44936</c:v>
                </c:pt>
                <c:pt idx="10">
                  <c:v>44937</c:v>
                </c:pt>
                <c:pt idx="11">
                  <c:v>44938</c:v>
                </c:pt>
                <c:pt idx="12">
                  <c:v>44939</c:v>
                </c:pt>
                <c:pt idx="13">
                  <c:v>44940</c:v>
                </c:pt>
                <c:pt idx="14">
                  <c:v>44941</c:v>
                </c:pt>
                <c:pt idx="15">
                  <c:v>44942</c:v>
                </c:pt>
                <c:pt idx="16">
                  <c:v>44943</c:v>
                </c:pt>
                <c:pt idx="17">
                  <c:v>44944</c:v>
                </c:pt>
                <c:pt idx="18">
                  <c:v>44945</c:v>
                </c:pt>
                <c:pt idx="19">
                  <c:v>44946</c:v>
                </c:pt>
                <c:pt idx="20">
                  <c:v>44947</c:v>
                </c:pt>
                <c:pt idx="21">
                  <c:v>44948</c:v>
                </c:pt>
                <c:pt idx="22">
                  <c:v>44949</c:v>
                </c:pt>
                <c:pt idx="23">
                  <c:v>44950</c:v>
                </c:pt>
                <c:pt idx="24">
                  <c:v>44951</c:v>
                </c:pt>
                <c:pt idx="25">
                  <c:v>44952</c:v>
                </c:pt>
                <c:pt idx="26">
                  <c:v>44953</c:v>
                </c:pt>
                <c:pt idx="27">
                  <c:v>44954</c:v>
                </c:pt>
                <c:pt idx="28">
                  <c:v>44955</c:v>
                </c:pt>
                <c:pt idx="29">
                  <c:v>44956</c:v>
                </c:pt>
                <c:pt idx="30">
                  <c:v>44957</c:v>
                </c:pt>
                <c:pt idx="31">
                  <c:v>44958</c:v>
                </c:pt>
                <c:pt idx="32">
                  <c:v>44959</c:v>
                </c:pt>
                <c:pt idx="33">
                  <c:v>44960</c:v>
                </c:pt>
                <c:pt idx="34">
                  <c:v>44961</c:v>
                </c:pt>
                <c:pt idx="35">
                  <c:v>44962</c:v>
                </c:pt>
                <c:pt idx="36">
                  <c:v>44963</c:v>
                </c:pt>
                <c:pt idx="37">
                  <c:v>44964</c:v>
                </c:pt>
                <c:pt idx="38">
                  <c:v>44965</c:v>
                </c:pt>
                <c:pt idx="39">
                  <c:v>44966</c:v>
                </c:pt>
                <c:pt idx="40">
                  <c:v>44967</c:v>
                </c:pt>
                <c:pt idx="41">
                  <c:v>44968</c:v>
                </c:pt>
                <c:pt idx="42">
                  <c:v>44969</c:v>
                </c:pt>
                <c:pt idx="43">
                  <c:v>44970</c:v>
                </c:pt>
                <c:pt idx="44">
                  <c:v>44971</c:v>
                </c:pt>
                <c:pt idx="45">
                  <c:v>44972</c:v>
                </c:pt>
                <c:pt idx="46">
                  <c:v>44973</c:v>
                </c:pt>
                <c:pt idx="47">
                  <c:v>44974</c:v>
                </c:pt>
                <c:pt idx="48">
                  <c:v>44975</c:v>
                </c:pt>
                <c:pt idx="49">
                  <c:v>44976</c:v>
                </c:pt>
                <c:pt idx="50">
                  <c:v>44977</c:v>
                </c:pt>
                <c:pt idx="51">
                  <c:v>44978</c:v>
                </c:pt>
                <c:pt idx="52">
                  <c:v>44979</c:v>
                </c:pt>
                <c:pt idx="53">
                  <c:v>44980</c:v>
                </c:pt>
                <c:pt idx="54">
                  <c:v>44981</c:v>
                </c:pt>
                <c:pt idx="55">
                  <c:v>44982</c:v>
                </c:pt>
                <c:pt idx="56">
                  <c:v>44983</c:v>
                </c:pt>
                <c:pt idx="57">
                  <c:v>44984</c:v>
                </c:pt>
                <c:pt idx="58">
                  <c:v>44985</c:v>
                </c:pt>
                <c:pt idx="59">
                  <c:v>44986</c:v>
                </c:pt>
                <c:pt idx="60">
                  <c:v>44987</c:v>
                </c:pt>
                <c:pt idx="61">
                  <c:v>44988</c:v>
                </c:pt>
                <c:pt idx="62">
                  <c:v>44989</c:v>
                </c:pt>
                <c:pt idx="63">
                  <c:v>44990</c:v>
                </c:pt>
                <c:pt idx="64">
                  <c:v>44991</c:v>
                </c:pt>
                <c:pt idx="65">
                  <c:v>44992</c:v>
                </c:pt>
                <c:pt idx="66">
                  <c:v>44993</c:v>
                </c:pt>
                <c:pt idx="67">
                  <c:v>44994</c:v>
                </c:pt>
                <c:pt idx="68">
                  <c:v>44995</c:v>
                </c:pt>
                <c:pt idx="69">
                  <c:v>44996</c:v>
                </c:pt>
                <c:pt idx="70">
                  <c:v>44997</c:v>
                </c:pt>
                <c:pt idx="71">
                  <c:v>44998</c:v>
                </c:pt>
                <c:pt idx="72">
                  <c:v>44999</c:v>
                </c:pt>
                <c:pt idx="73">
                  <c:v>45000</c:v>
                </c:pt>
                <c:pt idx="74">
                  <c:v>45001</c:v>
                </c:pt>
                <c:pt idx="75">
                  <c:v>45002</c:v>
                </c:pt>
                <c:pt idx="76">
                  <c:v>45003</c:v>
                </c:pt>
                <c:pt idx="77">
                  <c:v>45004</c:v>
                </c:pt>
                <c:pt idx="78">
                  <c:v>45005</c:v>
                </c:pt>
                <c:pt idx="79">
                  <c:v>45006</c:v>
                </c:pt>
                <c:pt idx="80">
                  <c:v>45007</c:v>
                </c:pt>
                <c:pt idx="81">
                  <c:v>45008</c:v>
                </c:pt>
                <c:pt idx="82">
                  <c:v>45009</c:v>
                </c:pt>
                <c:pt idx="83">
                  <c:v>45010</c:v>
                </c:pt>
                <c:pt idx="84">
                  <c:v>45011</c:v>
                </c:pt>
                <c:pt idx="85">
                  <c:v>45012</c:v>
                </c:pt>
                <c:pt idx="86">
                  <c:v>45013</c:v>
                </c:pt>
                <c:pt idx="87">
                  <c:v>45014</c:v>
                </c:pt>
                <c:pt idx="88">
                  <c:v>45015</c:v>
                </c:pt>
                <c:pt idx="89">
                  <c:v>45016</c:v>
                </c:pt>
                <c:pt idx="90">
                  <c:v>45017</c:v>
                </c:pt>
                <c:pt idx="91">
                  <c:v>45018</c:v>
                </c:pt>
                <c:pt idx="92">
                  <c:v>45019</c:v>
                </c:pt>
                <c:pt idx="93">
                  <c:v>45020</c:v>
                </c:pt>
                <c:pt idx="94">
                  <c:v>45021</c:v>
                </c:pt>
                <c:pt idx="95">
                  <c:v>45022</c:v>
                </c:pt>
                <c:pt idx="96">
                  <c:v>45023</c:v>
                </c:pt>
                <c:pt idx="97">
                  <c:v>45024</c:v>
                </c:pt>
                <c:pt idx="98">
                  <c:v>45025</c:v>
                </c:pt>
                <c:pt idx="99">
                  <c:v>45026</c:v>
                </c:pt>
                <c:pt idx="100">
                  <c:v>45027</c:v>
                </c:pt>
                <c:pt idx="101">
                  <c:v>45028</c:v>
                </c:pt>
                <c:pt idx="102">
                  <c:v>45029</c:v>
                </c:pt>
                <c:pt idx="103">
                  <c:v>45030</c:v>
                </c:pt>
                <c:pt idx="104">
                  <c:v>45031</c:v>
                </c:pt>
                <c:pt idx="105">
                  <c:v>45032</c:v>
                </c:pt>
                <c:pt idx="106">
                  <c:v>45033</c:v>
                </c:pt>
                <c:pt idx="107">
                  <c:v>45034</c:v>
                </c:pt>
                <c:pt idx="108">
                  <c:v>45035</c:v>
                </c:pt>
                <c:pt idx="109">
                  <c:v>45036</c:v>
                </c:pt>
                <c:pt idx="110">
                  <c:v>45037</c:v>
                </c:pt>
                <c:pt idx="111">
                  <c:v>45038</c:v>
                </c:pt>
                <c:pt idx="112">
                  <c:v>45039</c:v>
                </c:pt>
                <c:pt idx="113">
                  <c:v>45040</c:v>
                </c:pt>
                <c:pt idx="114">
                  <c:v>45041</c:v>
                </c:pt>
                <c:pt idx="115">
                  <c:v>45042</c:v>
                </c:pt>
                <c:pt idx="116">
                  <c:v>45043</c:v>
                </c:pt>
                <c:pt idx="117">
                  <c:v>45044</c:v>
                </c:pt>
                <c:pt idx="118">
                  <c:v>45045</c:v>
                </c:pt>
                <c:pt idx="119">
                  <c:v>45046</c:v>
                </c:pt>
              </c:numCache>
            </c:numRef>
          </c:cat>
          <c:val>
            <c:numRef>
              <c:f>общий!$E$2:$E$121</c:f>
              <c:numCache>
                <c:formatCode>General</c:formatCode>
                <c:ptCount val="120"/>
                <c:pt idx="0">
                  <c:v>24</c:v>
                </c:pt>
                <c:pt idx="1">
                  <c:v>190</c:v>
                </c:pt>
                <c:pt idx="2">
                  <c:v>190</c:v>
                </c:pt>
                <c:pt idx="3">
                  <c:v>190</c:v>
                </c:pt>
                <c:pt idx="4">
                  <c:v>190</c:v>
                </c:pt>
                <c:pt idx="5">
                  <c:v>190</c:v>
                </c:pt>
                <c:pt idx="6">
                  <c:v>190</c:v>
                </c:pt>
                <c:pt idx="7">
                  <c:v>190</c:v>
                </c:pt>
                <c:pt idx="8">
                  <c:v>233</c:v>
                </c:pt>
                <c:pt idx="9">
                  <c:v>233</c:v>
                </c:pt>
                <c:pt idx="10">
                  <c:v>233</c:v>
                </c:pt>
                <c:pt idx="11">
                  <c:v>233</c:v>
                </c:pt>
                <c:pt idx="12">
                  <c:v>233</c:v>
                </c:pt>
                <c:pt idx="13">
                  <c:v>233</c:v>
                </c:pt>
                <c:pt idx="14">
                  <c:v>233</c:v>
                </c:pt>
                <c:pt idx="15">
                  <c:v>272</c:v>
                </c:pt>
                <c:pt idx="16">
                  <c:v>272</c:v>
                </c:pt>
                <c:pt idx="17">
                  <c:v>272</c:v>
                </c:pt>
                <c:pt idx="18">
                  <c:v>272</c:v>
                </c:pt>
                <c:pt idx="19">
                  <c:v>272</c:v>
                </c:pt>
                <c:pt idx="20">
                  <c:v>272</c:v>
                </c:pt>
                <c:pt idx="21">
                  <c:v>272</c:v>
                </c:pt>
                <c:pt idx="22">
                  <c:v>295</c:v>
                </c:pt>
                <c:pt idx="23">
                  <c:v>295</c:v>
                </c:pt>
                <c:pt idx="24">
                  <c:v>295</c:v>
                </c:pt>
                <c:pt idx="25">
                  <c:v>295</c:v>
                </c:pt>
                <c:pt idx="26">
                  <c:v>295</c:v>
                </c:pt>
                <c:pt idx="27">
                  <c:v>295</c:v>
                </c:pt>
                <c:pt idx="28">
                  <c:v>295</c:v>
                </c:pt>
                <c:pt idx="29">
                  <c:v>346</c:v>
                </c:pt>
                <c:pt idx="30">
                  <c:v>346</c:v>
                </c:pt>
                <c:pt idx="31">
                  <c:v>346</c:v>
                </c:pt>
                <c:pt idx="32">
                  <c:v>346</c:v>
                </c:pt>
                <c:pt idx="33">
                  <c:v>346</c:v>
                </c:pt>
                <c:pt idx="34">
                  <c:v>346</c:v>
                </c:pt>
                <c:pt idx="35">
                  <c:v>346</c:v>
                </c:pt>
                <c:pt idx="36">
                  <c:v>340</c:v>
                </c:pt>
                <c:pt idx="37">
                  <c:v>340</c:v>
                </c:pt>
                <c:pt idx="38">
                  <c:v>340</c:v>
                </c:pt>
                <c:pt idx="39">
                  <c:v>340</c:v>
                </c:pt>
                <c:pt idx="40">
                  <c:v>340</c:v>
                </c:pt>
                <c:pt idx="41">
                  <c:v>340</c:v>
                </c:pt>
                <c:pt idx="42">
                  <c:v>340</c:v>
                </c:pt>
                <c:pt idx="43">
                  <c:v>347</c:v>
                </c:pt>
                <c:pt idx="44">
                  <c:v>347</c:v>
                </c:pt>
                <c:pt idx="45">
                  <c:v>347</c:v>
                </c:pt>
                <c:pt idx="46">
                  <c:v>347</c:v>
                </c:pt>
                <c:pt idx="47">
                  <c:v>347</c:v>
                </c:pt>
                <c:pt idx="48">
                  <c:v>347</c:v>
                </c:pt>
                <c:pt idx="49">
                  <c:v>347</c:v>
                </c:pt>
                <c:pt idx="50">
                  <c:v>384</c:v>
                </c:pt>
                <c:pt idx="51">
                  <c:v>384</c:v>
                </c:pt>
                <c:pt idx="52">
                  <c:v>384</c:v>
                </c:pt>
                <c:pt idx="53">
                  <c:v>384</c:v>
                </c:pt>
                <c:pt idx="54">
                  <c:v>384</c:v>
                </c:pt>
                <c:pt idx="55">
                  <c:v>384</c:v>
                </c:pt>
                <c:pt idx="56">
                  <c:v>384</c:v>
                </c:pt>
                <c:pt idx="57">
                  <c:v>611</c:v>
                </c:pt>
                <c:pt idx="58">
                  <c:v>611</c:v>
                </c:pt>
                <c:pt idx="59">
                  <c:v>611</c:v>
                </c:pt>
                <c:pt idx="60">
                  <c:v>611</c:v>
                </c:pt>
                <c:pt idx="61">
                  <c:v>611</c:v>
                </c:pt>
                <c:pt idx="62">
                  <c:v>611</c:v>
                </c:pt>
                <c:pt idx="63">
                  <c:v>611</c:v>
                </c:pt>
                <c:pt idx="64">
                  <c:v>712</c:v>
                </c:pt>
                <c:pt idx="65">
                  <c:v>712</c:v>
                </c:pt>
                <c:pt idx="66">
                  <c:v>712</c:v>
                </c:pt>
                <c:pt idx="67">
                  <c:v>712</c:v>
                </c:pt>
                <c:pt idx="68">
                  <c:v>712</c:v>
                </c:pt>
                <c:pt idx="69">
                  <c:v>712</c:v>
                </c:pt>
                <c:pt idx="70">
                  <c:v>712</c:v>
                </c:pt>
                <c:pt idx="71">
                  <c:v>772</c:v>
                </c:pt>
                <c:pt idx="72">
                  <c:v>772</c:v>
                </c:pt>
                <c:pt idx="73">
                  <c:v>772</c:v>
                </c:pt>
                <c:pt idx="74">
                  <c:v>772</c:v>
                </c:pt>
                <c:pt idx="75">
                  <c:v>772</c:v>
                </c:pt>
                <c:pt idx="76">
                  <c:v>772</c:v>
                </c:pt>
                <c:pt idx="77">
                  <c:v>772</c:v>
                </c:pt>
                <c:pt idx="78">
                  <c:v>656</c:v>
                </c:pt>
                <c:pt idx="79">
                  <c:v>656</c:v>
                </c:pt>
                <c:pt idx="80">
                  <c:v>656</c:v>
                </c:pt>
                <c:pt idx="81">
                  <c:v>656</c:v>
                </c:pt>
                <c:pt idx="82">
                  <c:v>656</c:v>
                </c:pt>
                <c:pt idx="83">
                  <c:v>656</c:v>
                </c:pt>
                <c:pt idx="84">
                  <c:v>656</c:v>
                </c:pt>
                <c:pt idx="85">
                  <c:v>661</c:v>
                </c:pt>
                <c:pt idx="86">
                  <c:v>661</c:v>
                </c:pt>
                <c:pt idx="87">
                  <c:v>661</c:v>
                </c:pt>
                <c:pt idx="88">
                  <c:v>661</c:v>
                </c:pt>
                <c:pt idx="89">
                  <c:v>661</c:v>
                </c:pt>
                <c:pt idx="90">
                  <c:v>661</c:v>
                </c:pt>
                <c:pt idx="91">
                  <c:v>661</c:v>
                </c:pt>
                <c:pt idx="92">
                  <c:v>699</c:v>
                </c:pt>
                <c:pt idx="93">
                  <c:v>699</c:v>
                </c:pt>
                <c:pt idx="94">
                  <c:v>699</c:v>
                </c:pt>
                <c:pt idx="95">
                  <c:v>699</c:v>
                </c:pt>
                <c:pt idx="96">
                  <c:v>699</c:v>
                </c:pt>
                <c:pt idx="97">
                  <c:v>699</c:v>
                </c:pt>
                <c:pt idx="98">
                  <c:v>699</c:v>
                </c:pt>
                <c:pt idx="99">
                  <c:v>614</c:v>
                </c:pt>
                <c:pt idx="100">
                  <c:v>614</c:v>
                </c:pt>
                <c:pt idx="101">
                  <c:v>614</c:v>
                </c:pt>
                <c:pt idx="102">
                  <c:v>614</c:v>
                </c:pt>
                <c:pt idx="103">
                  <c:v>614</c:v>
                </c:pt>
                <c:pt idx="104">
                  <c:v>614</c:v>
                </c:pt>
                <c:pt idx="105">
                  <c:v>614</c:v>
                </c:pt>
                <c:pt idx="106">
                  <c:v>545</c:v>
                </c:pt>
                <c:pt idx="107">
                  <c:v>545</c:v>
                </c:pt>
                <c:pt idx="108">
                  <c:v>545</c:v>
                </c:pt>
                <c:pt idx="109">
                  <c:v>545</c:v>
                </c:pt>
                <c:pt idx="110">
                  <c:v>545</c:v>
                </c:pt>
                <c:pt idx="111">
                  <c:v>545</c:v>
                </c:pt>
                <c:pt idx="112">
                  <c:v>545</c:v>
                </c:pt>
                <c:pt idx="113">
                  <c:v>422</c:v>
                </c:pt>
                <c:pt idx="114">
                  <c:v>422</c:v>
                </c:pt>
                <c:pt idx="115">
                  <c:v>422</c:v>
                </c:pt>
                <c:pt idx="116">
                  <c:v>422</c:v>
                </c:pt>
                <c:pt idx="117">
                  <c:v>422</c:v>
                </c:pt>
                <c:pt idx="118">
                  <c:v>422</c:v>
                </c:pt>
                <c:pt idx="119">
                  <c:v>422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747E-48D7-A32D-FAB0D1EBD5D2}"/>
            </c:ext>
          </c:extLst>
        </c:ser>
        <c:ser>
          <c:idx val="2"/>
          <c:order val="2"/>
          <c:tx>
            <c:strRef>
              <c:f>общий!$F$1</c:f>
              <c:strCache>
                <c:ptCount val="1"/>
                <c:pt idx="0">
                  <c:v>mau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общий!$C$2:$C$121</c:f>
              <c:numCache>
                <c:formatCode>dd/mm/yyyy\ h:mm</c:formatCode>
                <c:ptCount val="120"/>
                <c:pt idx="0">
                  <c:v>44927</c:v>
                </c:pt>
                <c:pt idx="1">
                  <c:v>44928</c:v>
                </c:pt>
                <c:pt idx="2">
                  <c:v>44929</c:v>
                </c:pt>
                <c:pt idx="3">
                  <c:v>44930</c:v>
                </c:pt>
                <c:pt idx="4">
                  <c:v>44931</c:v>
                </c:pt>
                <c:pt idx="5">
                  <c:v>44932</c:v>
                </c:pt>
                <c:pt idx="6">
                  <c:v>44933</c:v>
                </c:pt>
                <c:pt idx="7">
                  <c:v>44934</c:v>
                </c:pt>
                <c:pt idx="8">
                  <c:v>44935</c:v>
                </c:pt>
                <c:pt idx="9">
                  <c:v>44936</c:v>
                </c:pt>
                <c:pt idx="10">
                  <c:v>44937</c:v>
                </c:pt>
                <c:pt idx="11">
                  <c:v>44938</c:v>
                </c:pt>
                <c:pt idx="12">
                  <c:v>44939</c:v>
                </c:pt>
                <c:pt idx="13">
                  <c:v>44940</c:v>
                </c:pt>
                <c:pt idx="14">
                  <c:v>44941</c:v>
                </c:pt>
                <c:pt idx="15">
                  <c:v>44942</c:v>
                </c:pt>
                <c:pt idx="16">
                  <c:v>44943</c:v>
                </c:pt>
                <c:pt idx="17">
                  <c:v>44944</c:v>
                </c:pt>
                <c:pt idx="18">
                  <c:v>44945</c:v>
                </c:pt>
                <c:pt idx="19">
                  <c:v>44946</c:v>
                </c:pt>
                <c:pt idx="20">
                  <c:v>44947</c:v>
                </c:pt>
                <c:pt idx="21">
                  <c:v>44948</c:v>
                </c:pt>
                <c:pt idx="22">
                  <c:v>44949</c:v>
                </c:pt>
                <c:pt idx="23">
                  <c:v>44950</c:v>
                </c:pt>
                <c:pt idx="24">
                  <c:v>44951</c:v>
                </c:pt>
                <c:pt idx="25">
                  <c:v>44952</c:v>
                </c:pt>
                <c:pt idx="26">
                  <c:v>44953</c:v>
                </c:pt>
                <c:pt idx="27">
                  <c:v>44954</c:v>
                </c:pt>
                <c:pt idx="28">
                  <c:v>44955</c:v>
                </c:pt>
                <c:pt idx="29">
                  <c:v>44956</c:v>
                </c:pt>
                <c:pt idx="30">
                  <c:v>44957</c:v>
                </c:pt>
                <c:pt idx="31">
                  <c:v>44958</c:v>
                </c:pt>
                <c:pt idx="32">
                  <c:v>44959</c:v>
                </c:pt>
                <c:pt idx="33">
                  <c:v>44960</c:v>
                </c:pt>
                <c:pt idx="34">
                  <c:v>44961</c:v>
                </c:pt>
                <c:pt idx="35">
                  <c:v>44962</c:v>
                </c:pt>
                <c:pt idx="36">
                  <c:v>44963</c:v>
                </c:pt>
                <c:pt idx="37">
                  <c:v>44964</c:v>
                </c:pt>
                <c:pt idx="38">
                  <c:v>44965</c:v>
                </c:pt>
                <c:pt idx="39">
                  <c:v>44966</c:v>
                </c:pt>
                <c:pt idx="40">
                  <c:v>44967</c:v>
                </c:pt>
                <c:pt idx="41">
                  <c:v>44968</c:v>
                </c:pt>
                <c:pt idx="42">
                  <c:v>44969</c:v>
                </c:pt>
                <c:pt idx="43">
                  <c:v>44970</c:v>
                </c:pt>
                <c:pt idx="44">
                  <c:v>44971</c:v>
                </c:pt>
                <c:pt idx="45">
                  <c:v>44972</c:v>
                </c:pt>
                <c:pt idx="46">
                  <c:v>44973</c:v>
                </c:pt>
                <c:pt idx="47">
                  <c:v>44974</c:v>
                </c:pt>
                <c:pt idx="48">
                  <c:v>44975</c:v>
                </c:pt>
                <c:pt idx="49">
                  <c:v>44976</c:v>
                </c:pt>
                <c:pt idx="50">
                  <c:v>44977</c:v>
                </c:pt>
                <c:pt idx="51">
                  <c:v>44978</c:v>
                </c:pt>
                <c:pt idx="52">
                  <c:v>44979</c:v>
                </c:pt>
                <c:pt idx="53">
                  <c:v>44980</c:v>
                </c:pt>
                <c:pt idx="54">
                  <c:v>44981</c:v>
                </c:pt>
                <c:pt idx="55">
                  <c:v>44982</c:v>
                </c:pt>
                <c:pt idx="56">
                  <c:v>44983</c:v>
                </c:pt>
                <c:pt idx="57">
                  <c:v>44984</c:v>
                </c:pt>
                <c:pt idx="58">
                  <c:v>44985</c:v>
                </c:pt>
                <c:pt idx="59">
                  <c:v>44986</c:v>
                </c:pt>
                <c:pt idx="60">
                  <c:v>44987</c:v>
                </c:pt>
                <c:pt idx="61">
                  <c:v>44988</c:v>
                </c:pt>
                <c:pt idx="62">
                  <c:v>44989</c:v>
                </c:pt>
                <c:pt idx="63">
                  <c:v>44990</c:v>
                </c:pt>
                <c:pt idx="64">
                  <c:v>44991</c:v>
                </c:pt>
                <c:pt idx="65">
                  <c:v>44992</c:v>
                </c:pt>
                <c:pt idx="66">
                  <c:v>44993</c:v>
                </c:pt>
                <c:pt idx="67">
                  <c:v>44994</c:v>
                </c:pt>
                <c:pt idx="68">
                  <c:v>44995</c:v>
                </c:pt>
                <c:pt idx="69">
                  <c:v>44996</c:v>
                </c:pt>
                <c:pt idx="70">
                  <c:v>44997</c:v>
                </c:pt>
                <c:pt idx="71">
                  <c:v>44998</c:v>
                </c:pt>
                <c:pt idx="72">
                  <c:v>44999</c:v>
                </c:pt>
                <c:pt idx="73">
                  <c:v>45000</c:v>
                </c:pt>
                <c:pt idx="74">
                  <c:v>45001</c:v>
                </c:pt>
                <c:pt idx="75">
                  <c:v>45002</c:v>
                </c:pt>
                <c:pt idx="76">
                  <c:v>45003</c:v>
                </c:pt>
                <c:pt idx="77">
                  <c:v>45004</c:v>
                </c:pt>
                <c:pt idx="78">
                  <c:v>45005</c:v>
                </c:pt>
                <c:pt idx="79">
                  <c:v>45006</c:v>
                </c:pt>
                <c:pt idx="80">
                  <c:v>45007</c:v>
                </c:pt>
                <c:pt idx="81">
                  <c:v>45008</c:v>
                </c:pt>
                <c:pt idx="82">
                  <c:v>45009</c:v>
                </c:pt>
                <c:pt idx="83">
                  <c:v>45010</c:v>
                </c:pt>
                <c:pt idx="84">
                  <c:v>45011</c:v>
                </c:pt>
                <c:pt idx="85">
                  <c:v>45012</c:v>
                </c:pt>
                <c:pt idx="86">
                  <c:v>45013</c:v>
                </c:pt>
                <c:pt idx="87">
                  <c:v>45014</c:v>
                </c:pt>
                <c:pt idx="88">
                  <c:v>45015</c:v>
                </c:pt>
                <c:pt idx="89">
                  <c:v>45016</c:v>
                </c:pt>
                <c:pt idx="90">
                  <c:v>45017</c:v>
                </c:pt>
                <c:pt idx="91">
                  <c:v>45018</c:v>
                </c:pt>
                <c:pt idx="92">
                  <c:v>45019</c:v>
                </c:pt>
                <c:pt idx="93">
                  <c:v>45020</c:v>
                </c:pt>
                <c:pt idx="94">
                  <c:v>45021</c:v>
                </c:pt>
                <c:pt idx="95">
                  <c:v>45022</c:v>
                </c:pt>
                <c:pt idx="96">
                  <c:v>45023</c:v>
                </c:pt>
                <c:pt idx="97">
                  <c:v>45024</c:v>
                </c:pt>
                <c:pt idx="98">
                  <c:v>45025</c:v>
                </c:pt>
                <c:pt idx="99">
                  <c:v>45026</c:v>
                </c:pt>
                <c:pt idx="100">
                  <c:v>45027</c:v>
                </c:pt>
                <c:pt idx="101">
                  <c:v>45028</c:v>
                </c:pt>
                <c:pt idx="102">
                  <c:v>45029</c:v>
                </c:pt>
                <c:pt idx="103">
                  <c:v>45030</c:v>
                </c:pt>
                <c:pt idx="104">
                  <c:v>45031</c:v>
                </c:pt>
                <c:pt idx="105">
                  <c:v>45032</c:v>
                </c:pt>
                <c:pt idx="106">
                  <c:v>45033</c:v>
                </c:pt>
                <c:pt idx="107">
                  <c:v>45034</c:v>
                </c:pt>
                <c:pt idx="108">
                  <c:v>45035</c:v>
                </c:pt>
                <c:pt idx="109">
                  <c:v>45036</c:v>
                </c:pt>
                <c:pt idx="110">
                  <c:v>45037</c:v>
                </c:pt>
                <c:pt idx="111">
                  <c:v>45038</c:v>
                </c:pt>
                <c:pt idx="112">
                  <c:v>45039</c:v>
                </c:pt>
                <c:pt idx="113">
                  <c:v>45040</c:v>
                </c:pt>
                <c:pt idx="114">
                  <c:v>45041</c:v>
                </c:pt>
                <c:pt idx="115">
                  <c:v>45042</c:v>
                </c:pt>
                <c:pt idx="116">
                  <c:v>45043</c:v>
                </c:pt>
                <c:pt idx="117">
                  <c:v>45044</c:v>
                </c:pt>
                <c:pt idx="118">
                  <c:v>45045</c:v>
                </c:pt>
                <c:pt idx="119">
                  <c:v>45046</c:v>
                </c:pt>
              </c:numCache>
            </c:numRef>
          </c:cat>
          <c:val>
            <c:numRef>
              <c:f>общий!$F$2:$F$121</c:f>
              <c:numCache>
                <c:formatCode>General</c:formatCode>
                <c:ptCount val="120"/>
                <c:pt idx="0">
                  <c:v>536</c:v>
                </c:pt>
                <c:pt idx="1">
                  <c:v>536</c:v>
                </c:pt>
                <c:pt idx="2">
                  <c:v>536</c:v>
                </c:pt>
                <c:pt idx="3">
                  <c:v>536</c:v>
                </c:pt>
                <c:pt idx="4">
                  <c:v>536</c:v>
                </c:pt>
                <c:pt idx="5">
                  <c:v>536</c:v>
                </c:pt>
                <c:pt idx="6">
                  <c:v>536</c:v>
                </c:pt>
                <c:pt idx="7">
                  <c:v>536</c:v>
                </c:pt>
                <c:pt idx="8">
                  <c:v>536</c:v>
                </c:pt>
                <c:pt idx="9">
                  <c:v>536</c:v>
                </c:pt>
                <c:pt idx="10">
                  <c:v>536</c:v>
                </c:pt>
                <c:pt idx="11">
                  <c:v>536</c:v>
                </c:pt>
                <c:pt idx="12">
                  <c:v>536</c:v>
                </c:pt>
                <c:pt idx="13">
                  <c:v>536</c:v>
                </c:pt>
                <c:pt idx="14">
                  <c:v>536</c:v>
                </c:pt>
                <c:pt idx="15">
                  <c:v>536</c:v>
                </c:pt>
                <c:pt idx="16">
                  <c:v>536</c:v>
                </c:pt>
                <c:pt idx="17">
                  <c:v>536</c:v>
                </c:pt>
                <c:pt idx="18">
                  <c:v>536</c:v>
                </c:pt>
                <c:pt idx="19">
                  <c:v>536</c:v>
                </c:pt>
                <c:pt idx="20">
                  <c:v>536</c:v>
                </c:pt>
                <c:pt idx="21">
                  <c:v>536</c:v>
                </c:pt>
                <c:pt idx="22">
                  <c:v>536</c:v>
                </c:pt>
                <c:pt idx="23">
                  <c:v>536</c:v>
                </c:pt>
                <c:pt idx="24">
                  <c:v>536</c:v>
                </c:pt>
                <c:pt idx="25">
                  <c:v>536</c:v>
                </c:pt>
                <c:pt idx="26">
                  <c:v>536</c:v>
                </c:pt>
                <c:pt idx="27">
                  <c:v>536</c:v>
                </c:pt>
                <c:pt idx="28">
                  <c:v>536</c:v>
                </c:pt>
                <c:pt idx="29">
                  <c:v>536</c:v>
                </c:pt>
                <c:pt idx="30">
                  <c:v>536</c:v>
                </c:pt>
                <c:pt idx="31">
                  <c:v>696</c:v>
                </c:pt>
                <c:pt idx="32">
                  <c:v>696</c:v>
                </c:pt>
                <c:pt idx="33">
                  <c:v>696</c:v>
                </c:pt>
                <c:pt idx="34">
                  <c:v>696</c:v>
                </c:pt>
                <c:pt idx="35">
                  <c:v>696</c:v>
                </c:pt>
                <c:pt idx="36">
                  <c:v>696</c:v>
                </c:pt>
                <c:pt idx="37">
                  <c:v>696</c:v>
                </c:pt>
                <c:pt idx="38">
                  <c:v>696</c:v>
                </c:pt>
                <c:pt idx="39">
                  <c:v>696</c:v>
                </c:pt>
                <c:pt idx="40">
                  <c:v>696</c:v>
                </c:pt>
                <c:pt idx="41">
                  <c:v>696</c:v>
                </c:pt>
                <c:pt idx="42">
                  <c:v>696</c:v>
                </c:pt>
                <c:pt idx="43">
                  <c:v>696</c:v>
                </c:pt>
                <c:pt idx="44">
                  <c:v>696</c:v>
                </c:pt>
                <c:pt idx="45">
                  <c:v>696</c:v>
                </c:pt>
                <c:pt idx="46">
                  <c:v>696</c:v>
                </c:pt>
                <c:pt idx="47">
                  <c:v>696</c:v>
                </c:pt>
                <c:pt idx="48">
                  <c:v>696</c:v>
                </c:pt>
                <c:pt idx="49">
                  <c:v>696</c:v>
                </c:pt>
                <c:pt idx="50">
                  <c:v>696</c:v>
                </c:pt>
                <c:pt idx="51">
                  <c:v>696</c:v>
                </c:pt>
                <c:pt idx="52">
                  <c:v>696</c:v>
                </c:pt>
                <c:pt idx="53">
                  <c:v>696</c:v>
                </c:pt>
                <c:pt idx="54">
                  <c:v>696</c:v>
                </c:pt>
                <c:pt idx="55">
                  <c:v>696</c:v>
                </c:pt>
                <c:pt idx="56">
                  <c:v>696</c:v>
                </c:pt>
                <c:pt idx="57">
                  <c:v>696</c:v>
                </c:pt>
                <c:pt idx="58">
                  <c:v>696</c:v>
                </c:pt>
                <c:pt idx="59">
                  <c:v>1544</c:v>
                </c:pt>
                <c:pt idx="60">
                  <c:v>1544</c:v>
                </c:pt>
                <c:pt idx="61">
                  <c:v>1544</c:v>
                </c:pt>
                <c:pt idx="62">
                  <c:v>1544</c:v>
                </c:pt>
                <c:pt idx="63">
                  <c:v>1544</c:v>
                </c:pt>
                <c:pt idx="64">
                  <c:v>1544</c:v>
                </c:pt>
                <c:pt idx="65">
                  <c:v>1544</c:v>
                </c:pt>
                <c:pt idx="66">
                  <c:v>1544</c:v>
                </c:pt>
                <c:pt idx="67">
                  <c:v>1544</c:v>
                </c:pt>
                <c:pt idx="68">
                  <c:v>1544</c:v>
                </c:pt>
                <c:pt idx="69">
                  <c:v>1544</c:v>
                </c:pt>
                <c:pt idx="70">
                  <c:v>1544</c:v>
                </c:pt>
                <c:pt idx="71">
                  <c:v>1544</c:v>
                </c:pt>
                <c:pt idx="72">
                  <c:v>1544</c:v>
                </c:pt>
                <c:pt idx="73">
                  <c:v>1544</c:v>
                </c:pt>
                <c:pt idx="74">
                  <c:v>1544</c:v>
                </c:pt>
                <c:pt idx="75">
                  <c:v>1544</c:v>
                </c:pt>
                <c:pt idx="76">
                  <c:v>1544</c:v>
                </c:pt>
                <c:pt idx="77">
                  <c:v>1544</c:v>
                </c:pt>
                <c:pt idx="78">
                  <c:v>1544</c:v>
                </c:pt>
                <c:pt idx="79">
                  <c:v>1544</c:v>
                </c:pt>
                <c:pt idx="80">
                  <c:v>1544</c:v>
                </c:pt>
                <c:pt idx="81">
                  <c:v>1544</c:v>
                </c:pt>
                <c:pt idx="82">
                  <c:v>1544</c:v>
                </c:pt>
                <c:pt idx="83">
                  <c:v>1544</c:v>
                </c:pt>
                <c:pt idx="84">
                  <c:v>1544</c:v>
                </c:pt>
                <c:pt idx="85">
                  <c:v>1544</c:v>
                </c:pt>
                <c:pt idx="86">
                  <c:v>1544</c:v>
                </c:pt>
                <c:pt idx="87">
                  <c:v>1544</c:v>
                </c:pt>
                <c:pt idx="88">
                  <c:v>1544</c:v>
                </c:pt>
                <c:pt idx="89">
                  <c:v>1544</c:v>
                </c:pt>
                <c:pt idx="90">
                  <c:v>1027</c:v>
                </c:pt>
                <c:pt idx="91">
                  <c:v>1027</c:v>
                </c:pt>
                <c:pt idx="92">
                  <c:v>1027</c:v>
                </c:pt>
                <c:pt idx="93">
                  <c:v>1027</c:v>
                </c:pt>
                <c:pt idx="94">
                  <c:v>1027</c:v>
                </c:pt>
                <c:pt idx="95">
                  <c:v>1027</c:v>
                </c:pt>
                <c:pt idx="96">
                  <c:v>1027</c:v>
                </c:pt>
                <c:pt idx="97">
                  <c:v>1027</c:v>
                </c:pt>
                <c:pt idx="98">
                  <c:v>1027</c:v>
                </c:pt>
                <c:pt idx="99">
                  <c:v>1027</c:v>
                </c:pt>
                <c:pt idx="100">
                  <c:v>1027</c:v>
                </c:pt>
                <c:pt idx="101">
                  <c:v>1027</c:v>
                </c:pt>
                <c:pt idx="102">
                  <c:v>1027</c:v>
                </c:pt>
                <c:pt idx="103">
                  <c:v>1027</c:v>
                </c:pt>
                <c:pt idx="104">
                  <c:v>1027</c:v>
                </c:pt>
                <c:pt idx="105">
                  <c:v>1027</c:v>
                </c:pt>
                <c:pt idx="106">
                  <c:v>1027</c:v>
                </c:pt>
                <c:pt idx="107">
                  <c:v>1027</c:v>
                </c:pt>
                <c:pt idx="108">
                  <c:v>1027</c:v>
                </c:pt>
                <c:pt idx="109">
                  <c:v>1027</c:v>
                </c:pt>
                <c:pt idx="110">
                  <c:v>1027</c:v>
                </c:pt>
                <c:pt idx="111">
                  <c:v>1027</c:v>
                </c:pt>
                <c:pt idx="112">
                  <c:v>1027</c:v>
                </c:pt>
                <c:pt idx="113">
                  <c:v>1027</c:v>
                </c:pt>
                <c:pt idx="114">
                  <c:v>1027</c:v>
                </c:pt>
                <c:pt idx="115">
                  <c:v>1027</c:v>
                </c:pt>
                <c:pt idx="116">
                  <c:v>1027</c:v>
                </c:pt>
                <c:pt idx="117">
                  <c:v>1027</c:v>
                </c:pt>
                <c:pt idx="118">
                  <c:v>1027</c:v>
                </c:pt>
                <c:pt idx="119">
                  <c:v>1027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747E-48D7-A32D-FAB0D1EBD5D2}"/>
            </c:ext>
          </c:extLst>
        </c:ser>
        <c:dLbls/>
        <c:marker val="1"/>
        <c:axId val="113744896"/>
        <c:axId val="113755264"/>
      </c:lineChart>
      <c:dateAx>
        <c:axId val="113744896"/>
        <c:scaling>
          <c:orientation val="minMax"/>
        </c:scaling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Месяц</a:t>
                </a:r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[$-419]mmmm;@" sourceLinked="0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3755264"/>
        <c:crosses val="autoZero"/>
        <c:lblOffset val="100"/>
        <c:baseTimeUnit val="days"/>
        <c:majorUnit val="1"/>
        <c:majorTimeUnit val="months"/>
        <c:minorUnit val="1"/>
        <c:minorTimeUnit val="days"/>
      </c:dateAx>
      <c:valAx>
        <c:axId val="113755264"/>
        <c:scaling>
          <c:orientation val="minMax"/>
        </c:scaling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Количество</a:t>
                </a:r>
                <a:r>
                  <a:rPr lang="ru-RU" baseline="0" dirty="0"/>
                  <a:t> уникальных пользователей</a:t>
                </a:r>
                <a:endParaRPr lang="ru-RU" dirty="0"/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3744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2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>
                <a:effectLst/>
              </a:rPr>
              <a:t>Sticky Factor</a:t>
            </a:r>
            <a:endParaRPr lang="ru-RU"/>
          </a:p>
        </c:rich>
      </c:tx>
      <c:layout/>
      <c:spPr>
        <a:noFill/>
        <a:ln>
          <a:noFill/>
        </a:ln>
        <a:effectLst/>
      </c:spPr>
    </c:title>
    <c:plotArea>
      <c:layout/>
      <c:lineChart>
        <c:grouping val="standard"/>
        <c:ser>
          <c:idx val="0"/>
          <c:order val="0"/>
          <c:tx>
            <c:strRef>
              <c:f>общий!$G$1</c:f>
              <c:strCache>
                <c:ptCount val="1"/>
                <c:pt idx="0">
                  <c:v>Sticky Factor Weekly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общий!$C$3:$C$121</c:f>
              <c:numCache>
                <c:formatCode>dd/mm/yyyy\ h:mm</c:formatCode>
                <c:ptCount val="119"/>
                <c:pt idx="0">
                  <c:v>44928</c:v>
                </c:pt>
                <c:pt idx="1">
                  <c:v>44929</c:v>
                </c:pt>
                <c:pt idx="2">
                  <c:v>44930</c:v>
                </c:pt>
                <c:pt idx="3">
                  <c:v>44931</c:v>
                </c:pt>
                <c:pt idx="4">
                  <c:v>44932</c:v>
                </c:pt>
                <c:pt idx="5">
                  <c:v>44933</c:v>
                </c:pt>
                <c:pt idx="6">
                  <c:v>44934</c:v>
                </c:pt>
                <c:pt idx="7">
                  <c:v>44935</c:v>
                </c:pt>
                <c:pt idx="8">
                  <c:v>44936</c:v>
                </c:pt>
                <c:pt idx="9">
                  <c:v>44937</c:v>
                </c:pt>
                <c:pt idx="10">
                  <c:v>44938</c:v>
                </c:pt>
                <c:pt idx="11">
                  <c:v>44939</c:v>
                </c:pt>
                <c:pt idx="12">
                  <c:v>44940</c:v>
                </c:pt>
                <c:pt idx="13">
                  <c:v>44941</c:v>
                </c:pt>
                <c:pt idx="14">
                  <c:v>44942</c:v>
                </c:pt>
                <c:pt idx="15">
                  <c:v>44943</c:v>
                </c:pt>
                <c:pt idx="16">
                  <c:v>44944</c:v>
                </c:pt>
                <c:pt idx="17">
                  <c:v>44945</c:v>
                </c:pt>
                <c:pt idx="18">
                  <c:v>44946</c:v>
                </c:pt>
                <c:pt idx="19">
                  <c:v>44947</c:v>
                </c:pt>
                <c:pt idx="20">
                  <c:v>44948</c:v>
                </c:pt>
                <c:pt idx="21">
                  <c:v>44949</c:v>
                </c:pt>
                <c:pt idx="22">
                  <c:v>44950</c:v>
                </c:pt>
                <c:pt idx="23">
                  <c:v>44951</c:v>
                </c:pt>
                <c:pt idx="24">
                  <c:v>44952</c:v>
                </c:pt>
                <c:pt idx="25">
                  <c:v>44953</c:v>
                </c:pt>
                <c:pt idx="26">
                  <c:v>44954</c:v>
                </c:pt>
                <c:pt idx="27">
                  <c:v>44955</c:v>
                </c:pt>
                <c:pt idx="28">
                  <c:v>44956</c:v>
                </c:pt>
                <c:pt idx="29">
                  <c:v>44957</c:v>
                </c:pt>
                <c:pt idx="30">
                  <c:v>44958</c:v>
                </c:pt>
                <c:pt idx="31">
                  <c:v>44959</c:v>
                </c:pt>
                <c:pt idx="32">
                  <c:v>44960</c:v>
                </c:pt>
                <c:pt idx="33">
                  <c:v>44961</c:v>
                </c:pt>
                <c:pt idx="34">
                  <c:v>44962</c:v>
                </c:pt>
                <c:pt idx="35">
                  <c:v>44963</c:v>
                </c:pt>
                <c:pt idx="36">
                  <c:v>44964</c:v>
                </c:pt>
                <c:pt idx="37">
                  <c:v>44965</c:v>
                </c:pt>
                <c:pt idx="38">
                  <c:v>44966</c:v>
                </c:pt>
                <c:pt idx="39">
                  <c:v>44967</c:v>
                </c:pt>
                <c:pt idx="40">
                  <c:v>44968</c:v>
                </c:pt>
                <c:pt idx="41">
                  <c:v>44969</c:v>
                </c:pt>
                <c:pt idx="42">
                  <c:v>44970</c:v>
                </c:pt>
                <c:pt idx="43">
                  <c:v>44971</c:v>
                </c:pt>
                <c:pt idx="44">
                  <c:v>44972</c:v>
                </c:pt>
                <c:pt idx="45">
                  <c:v>44973</c:v>
                </c:pt>
                <c:pt idx="46">
                  <c:v>44974</c:v>
                </c:pt>
                <c:pt idx="47">
                  <c:v>44975</c:v>
                </c:pt>
                <c:pt idx="48">
                  <c:v>44976</c:v>
                </c:pt>
                <c:pt idx="49">
                  <c:v>44977</c:v>
                </c:pt>
                <c:pt idx="50">
                  <c:v>44978</c:v>
                </c:pt>
                <c:pt idx="51">
                  <c:v>44979</c:v>
                </c:pt>
                <c:pt idx="52">
                  <c:v>44980</c:v>
                </c:pt>
                <c:pt idx="53">
                  <c:v>44981</c:v>
                </c:pt>
                <c:pt idx="54">
                  <c:v>44982</c:v>
                </c:pt>
                <c:pt idx="55">
                  <c:v>44983</c:v>
                </c:pt>
                <c:pt idx="56">
                  <c:v>44984</c:v>
                </c:pt>
                <c:pt idx="57">
                  <c:v>44985</c:v>
                </c:pt>
                <c:pt idx="58">
                  <c:v>44986</c:v>
                </c:pt>
                <c:pt idx="59">
                  <c:v>44987</c:v>
                </c:pt>
                <c:pt idx="60">
                  <c:v>44988</c:v>
                </c:pt>
                <c:pt idx="61">
                  <c:v>44989</c:v>
                </c:pt>
                <c:pt idx="62">
                  <c:v>44990</c:v>
                </c:pt>
                <c:pt idx="63">
                  <c:v>44991</c:v>
                </c:pt>
                <c:pt idx="64">
                  <c:v>44992</c:v>
                </c:pt>
                <c:pt idx="65">
                  <c:v>44993</c:v>
                </c:pt>
                <c:pt idx="66">
                  <c:v>44994</c:v>
                </c:pt>
                <c:pt idx="67">
                  <c:v>44995</c:v>
                </c:pt>
                <c:pt idx="68">
                  <c:v>44996</c:v>
                </c:pt>
                <c:pt idx="69">
                  <c:v>44997</c:v>
                </c:pt>
                <c:pt idx="70">
                  <c:v>44998</c:v>
                </c:pt>
                <c:pt idx="71">
                  <c:v>44999</c:v>
                </c:pt>
                <c:pt idx="72">
                  <c:v>45000</c:v>
                </c:pt>
                <c:pt idx="73">
                  <c:v>45001</c:v>
                </c:pt>
                <c:pt idx="74">
                  <c:v>45002</c:v>
                </c:pt>
                <c:pt idx="75">
                  <c:v>45003</c:v>
                </c:pt>
                <c:pt idx="76">
                  <c:v>45004</c:v>
                </c:pt>
                <c:pt idx="77">
                  <c:v>45005</c:v>
                </c:pt>
                <c:pt idx="78">
                  <c:v>45006</c:v>
                </c:pt>
                <c:pt idx="79">
                  <c:v>45007</c:v>
                </c:pt>
                <c:pt idx="80">
                  <c:v>45008</c:v>
                </c:pt>
                <c:pt idx="81">
                  <c:v>45009</c:v>
                </c:pt>
                <c:pt idx="82">
                  <c:v>45010</c:v>
                </c:pt>
                <c:pt idx="83">
                  <c:v>45011</c:v>
                </c:pt>
                <c:pt idx="84">
                  <c:v>45012</c:v>
                </c:pt>
                <c:pt idx="85">
                  <c:v>45013</c:v>
                </c:pt>
                <c:pt idx="86">
                  <c:v>45014</c:v>
                </c:pt>
                <c:pt idx="87">
                  <c:v>45015</c:v>
                </c:pt>
                <c:pt idx="88">
                  <c:v>45016</c:v>
                </c:pt>
                <c:pt idx="89">
                  <c:v>45017</c:v>
                </c:pt>
                <c:pt idx="90">
                  <c:v>45018</c:v>
                </c:pt>
                <c:pt idx="91">
                  <c:v>45019</c:v>
                </c:pt>
                <c:pt idx="92">
                  <c:v>45020</c:v>
                </c:pt>
                <c:pt idx="93">
                  <c:v>45021</c:v>
                </c:pt>
                <c:pt idx="94">
                  <c:v>45022</c:v>
                </c:pt>
                <c:pt idx="95">
                  <c:v>45023</c:v>
                </c:pt>
                <c:pt idx="96">
                  <c:v>45024</c:v>
                </c:pt>
                <c:pt idx="97">
                  <c:v>45025</c:v>
                </c:pt>
                <c:pt idx="98">
                  <c:v>45026</c:v>
                </c:pt>
                <c:pt idx="99">
                  <c:v>45027</c:v>
                </c:pt>
                <c:pt idx="100">
                  <c:v>45028</c:v>
                </c:pt>
                <c:pt idx="101">
                  <c:v>45029</c:v>
                </c:pt>
                <c:pt idx="102">
                  <c:v>45030</c:v>
                </c:pt>
                <c:pt idx="103">
                  <c:v>45031</c:v>
                </c:pt>
                <c:pt idx="104">
                  <c:v>45032</c:v>
                </c:pt>
                <c:pt idx="105">
                  <c:v>45033</c:v>
                </c:pt>
                <c:pt idx="106">
                  <c:v>45034</c:v>
                </c:pt>
                <c:pt idx="107">
                  <c:v>45035</c:v>
                </c:pt>
                <c:pt idx="108">
                  <c:v>45036</c:v>
                </c:pt>
                <c:pt idx="109">
                  <c:v>45037</c:v>
                </c:pt>
                <c:pt idx="110">
                  <c:v>45038</c:v>
                </c:pt>
                <c:pt idx="111">
                  <c:v>45039</c:v>
                </c:pt>
                <c:pt idx="112">
                  <c:v>45040</c:v>
                </c:pt>
                <c:pt idx="113">
                  <c:v>45041</c:v>
                </c:pt>
                <c:pt idx="114">
                  <c:v>45042</c:v>
                </c:pt>
                <c:pt idx="115">
                  <c:v>45043</c:v>
                </c:pt>
                <c:pt idx="116">
                  <c:v>45044</c:v>
                </c:pt>
                <c:pt idx="117">
                  <c:v>45045</c:v>
                </c:pt>
                <c:pt idx="118">
                  <c:v>45046</c:v>
                </c:pt>
              </c:numCache>
              <c:extLst xmlns:c16r2="http://schemas.microsoft.com/office/drawing/2015/06/chart"/>
            </c:numRef>
          </c:cat>
          <c:val>
            <c:numRef>
              <c:f>общий!$G$3:$G$121</c:f>
              <c:numCache>
                <c:formatCode>0.000</c:formatCode>
                <c:ptCount val="119"/>
                <c:pt idx="0">
                  <c:v>0.18421052631578944</c:v>
                </c:pt>
                <c:pt idx="1">
                  <c:v>0.21052631578947373</c:v>
                </c:pt>
                <c:pt idx="2">
                  <c:v>0.24210526315789477</c:v>
                </c:pt>
                <c:pt idx="3">
                  <c:v>0.18947368421052635</c:v>
                </c:pt>
                <c:pt idx="4">
                  <c:v>0.24210526315789477</c:v>
                </c:pt>
                <c:pt idx="5">
                  <c:v>0.18421052631578944</c:v>
                </c:pt>
                <c:pt idx="6">
                  <c:v>0.27894736842105261</c:v>
                </c:pt>
                <c:pt idx="7">
                  <c:v>0.2274678111587983</c:v>
                </c:pt>
                <c:pt idx="8">
                  <c:v>0.22317596566523604</c:v>
                </c:pt>
                <c:pt idx="9">
                  <c:v>0.27896995708154509</c:v>
                </c:pt>
                <c:pt idx="10">
                  <c:v>0.22317596566523604</c:v>
                </c:pt>
                <c:pt idx="11">
                  <c:v>0.26609442060085836</c:v>
                </c:pt>
                <c:pt idx="12">
                  <c:v>0.33047210300429197</c:v>
                </c:pt>
                <c:pt idx="13">
                  <c:v>0.26180257510729626</c:v>
                </c:pt>
                <c:pt idx="14">
                  <c:v>0.25735294117647062</c:v>
                </c:pt>
                <c:pt idx="15">
                  <c:v>0.24264705882352941</c:v>
                </c:pt>
                <c:pt idx="16">
                  <c:v>0.26838235294117646</c:v>
                </c:pt>
                <c:pt idx="17">
                  <c:v>0.26838235294117646</c:v>
                </c:pt>
                <c:pt idx="18">
                  <c:v>0.29411764705882359</c:v>
                </c:pt>
                <c:pt idx="19">
                  <c:v>0.27573529411764708</c:v>
                </c:pt>
                <c:pt idx="20">
                  <c:v>0.33088235294117652</c:v>
                </c:pt>
                <c:pt idx="21">
                  <c:v>0.264406779661017</c:v>
                </c:pt>
                <c:pt idx="22">
                  <c:v>0.30508474576271194</c:v>
                </c:pt>
                <c:pt idx="23">
                  <c:v>0.29830508474576284</c:v>
                </c:pt>
                <c:pt idx="24">
                  <c:v>0.28135593220338984</c:v>
                </c:pt>
                <c:pt idx="25">
                  <c:v>0.31186440677966121</c:v>
                </c:pt>
                <c:pt idx="26">
                  <c:v>0.33559322033898309</c:v>
                </c:pt>
                <c:pt idx="27">
                  <c:v>0.31525423728813562</c:v>
                </c:pt>
                <c:pt idx="28">
                  <c:v>0.33236994219653182</c:v>
                </c:pt>
                <c:pt idx="29">
                  <c:v>0.31213872832369949</c:v>
                </c:pt>
                <c:pt idx="30">
                  <c:v>0.32369942196531792</c:v>
                </c:pt>
                <c:pt idx="31">
                  <c:v>0.2485549132947977</c:v>
                </c:pt>
                <c:pt idx="32">
                  <c:v>0.28323699421965332</c:v>
                </c:pt>
                <c:pt idx="33">
                  <c:v>0.28901734104046251</c:v>
                </c:pt>
                <c:pt idx="34">
                  <c:v>0.27456647398843936</c:v>
                </c:pt>
                <c:pt idx="35">
                  <c:v>0.28823529411764709</c:v>
                </c:pt>
                <c:pt idx="36">
                  <c:v>0.26470588235294124</c:v>
                </c:pt>
                <c:pt idx="37">
                  <c:v>0.31470588235294128</c:v>
                </c:pt>
                <c:pt idx="38">
                  <c:v>0.29705882352941188</c:v>
                </c:pt>
                <c:pt idx="39">
                  <c:v>0.30588235294117655</c:v>
                </c:pt>
                <c:pt idx="40">
                  <c:v>0.28823529411764709</c:v>
                </c:pt>
                <c:pt idx="41">
                  <c:v>0.29705882352941188</c:v>
                </c:pt>
                <c:pt idx="42">
                  <c:v>0.27089337175792511</c:v>
                </c:pt>
                <c:pt idx="43">
                  <c:v>0.31123919308357351</c:v>
                </c:pt>
                <c:pt idx="44">
                  <c:v>0.2968299711815563</c:v>
                </c:pt>
                <c:pt idx="45">
                  <c:v>0.27377521613832845</c:v>
                </c:pt>
                <c:pt idx="46">
                  <c:v>0.30835734870317005</c:v>
                </c:pt>
                <c:pt idx="47">
                  <c:v>0.33429394812680119</c:v>
                </c:pt>
                <c:pt idx="48">
                  <c:v>0.31412103746397696</c:v>
                </c:pt>
                <c:pt idx="49">
                  <c:v>0.21875000000000003</c:v>
                </c:pt>
                <c:pt idx="50">
                  <c:v>0.25520833333333326</c:v>
                </c:pt>
                <c:pt idx="51">
                  <c:v>0.2994791666666668</c:v>
                </c:pt>
                <c:pt idx="52">
                  <c:v>0.24739583333333337</c:v>
                </c:pt>
                <c:pt idx="53">
                  <c:v>0.27604166666666674</c:v>
                </c:pt>
                <c:pt idx="54">
                  <c:v>0.30729166666666674</c:v>
                </c:pt>
                <c:pt idx="55">
                  <c:v>0.3307291666666668</c:v>
                </c:pt>
                <c:pt idx="56">
                  <c:v>0.17021276595744683</c:v>
                </c:pt>
                <c:pt idx="57">
                  <c:v>0.21440261865793783</c:v>
                </c:pt>
                <c:pt idx="58">
                  <c:v>0.21276595744680854</c:v>
                </c:pt>
                <c:pt idx="59">
                  <c:v>0.22585924713584291</c:v>
                </c:pt>
                <c:pt idx="60">
                  <c:v>0.27332242225859255</c:v>
                </c:pt>
                <c:pt idx="61">
                  <c:v>0.27823240589198034</c:v>
                </c:pt>
                <c:pt idx="62">
                  <c:v>0.27004909983633385</c:v>
                </c:pt>
                <c:pt idx="63">
                  <c:v>0.20926966292134835</c:v>
                </c:pt>
                <c:pt idx="64">
                  <c:v>0.21207865168539328</c:v>
                </c:pt>
                <c:pt idx="65">
                  <c:v>0.24297752808988765</c:v>
                </c:pt>
                <c:pt idx="66">
                  <c:v>0.21067415730337077</c:v>
                </c:pt>
                <c:pt idx="67">
                  <c:v>0.22752808988764048</c:v>
                </c:pt>
                <c:pt idx="68">
                  <c:v>0.2457865168539326</c:v>
                </c:pt>
                <c:pt idx="69">
                  <c:v>0.24719101123595505</c:v>
                </c:pt>
                <c:pt idx="70">
                  <c:v>0.233160621761658</c:v>
                </c:pt>
                <c:pt idx="71">
                  <c:v>0.21761658031088085</c:v>
                </c:pt>
                <c:pt idx="72">
                  <c:v>0.23963730569948188</c:v>
                </c:pt>
                <c:pt idx="73">
                  <c:v>0.23445595854922285</c:v>
                </c:pt>
                <c:pt idx="74">
                  <c:v>0.22279792746113991</c:v>
                </c:pt>
                <c:pt idx="75">
                  <c:v>0.24222797927461137</c:v>
                </c:pt>
                <c:pt idx="76">
                  <c:v>0.28238341968911923</c:v>
                </c:pt>
                <c:pt idx="77">
                  <c:v>0.28048780487804886</c:v>
                </c:pt>
                <c:pt idx="78">
                  <c:v>0.29573170731707321</c:v>
                </c:pt>
                <c:pt idx="79">
                  <c:v>0.19969512195121952</c:v>
                </c:pt>
                <c:pt idx="80">
                  <c:v>0.26829268292682928</c:v>
                </c:pt>
                <c:pt idx="81">
                  <c:v>0.20731707317073172</c:v>
                </c:pt>
                <c:pt idx="82">
                  <c:v>0.23323170731707321</c:v>
                </c:pt>
                <c:pt idx="83">
                  <c:v>0.24237804878048783</c:v>
                </c:pt>
                <c:pt idx="84">
                  <c:v>0.21633888048411501</c:v>
                </c:pt>
                <c:pt idx="85">
                  <c:v>0.23600605143721637</c:v>
                </c:pt>
                <c:pt idx="86">
                  <c:v>0.22844175491679278</c:v>
                </c:pt>
                <c:pt idx="87">
                  <c:v>0.22390317700453857</c:v>
                </c:pt>
                <c:pt idx="88">
                  <c:v>0.27836611195158856</c:v>
                </c:pt>
                <c:pt idx="89">
                  <c:v>0.30862329803328292</c:v>
                </c:pt>
                <c:pt idx="90">
                  <c:v>0.3252647503782149</c:v>
                </c:pt>
                <c:pt idx="91">
                  <c:v>0.28326180257510725</c:v>
                </c:pt>
                <c:pt idx="92">
                  <c:v>0.28469241773962811</c:v>
                </c:pt>
                <c:pt idx="93">
                  <c:v>0.26895565092989987</c:v>
                </c:pt>
                <c:pt idx="94">
                  <c:v>0.28183118741058655</c:v>
                </c:pt>
                <c:pt idx="95">
                  <c:v>0.27467811158798289</c:v>
                </c:pt>
                <c:pt idx="96">
                  <c:v>0.28612303290414881</c:v>
                </c:pt>
                <c:pt idx="97">
                  <c:v>0.27467811158798289</c:v>
                </c:pt>
                <c:pt idx="98">
                  <c:v>0.28013029315960924</c:v>
                </c:pt>
                <c:pt idx="99">
                  <c:v>0.26058631921824116</c:v>
                </c:pt>
                <c:pt idx="100">
                  <c:v>0.27361563517915316</c:v>
                </c:pt>
                <c:pt idx="101">
                  <c:v>0.27850162866449518</c:v>
                </c:pt>
                <c:pt idx="102">
                  <c:v>0.25081433224755706</c:v>
                </c:pt>
                <c:pt idx="103">
                  <c:v>0.23778501628664495</c:v>
                </c:pt>
                <c:pt idx="104">
                  <c:v>0.27035830618892515</c:v>
                </c:pt>
                <c:pt idx="105">
                  <c:v>0.24587155963302751</c:v>
                </c:pt>
                <c:pt idx="106">
                  <c:v>0.27339449541284416</c:v>
                </c:pt>
                <c:pt idx="107">
                  <c:v>0.24220183486238539</c:v>
                </c:pt>
                <c:pt idx="108">
                  <c:v>0.24036697247706426</c:v>
                </c:pt>
                <c:pt idx="109">
                  <c:v>0.19082568807339451</c:v>
                </c:pt>
                <c:pt idx="110">
                  <c:v>0.19266055045871558</c:v>
                </c:pt>
                <c:pt idx="111">
                  <c:v>0.19266055045871558</c:v>
                </c:pt>
                <c:pt idx="112">
                  <c:v>0.21327014218009485</c:v>
                </c:pt>
                <c:pt idx="113">
                  <c:v>0.23933649289099532</c:v>
                </c:pt>
                <c:pt idx="114">
                  <c:v>0.21800947867298581</c:v>
                </c:pt>
                <c:pt idx="115">
                  <c:v>0.16113744075829387</c:v>
                </c:pt>
                <c:pt idx="116">
                  <c:v>0.17772511848341235</c:v>
                </c:pt>
                <c:pt idx="117">
                  <c:v>0.17298578199052136</c:v>
                </c:pt>
                <c:pt idx="118">
                  <c:v>0.1682464454976304</c:v>
                </c:pt>
              </c:numCache>
              <c:extLst xmlns:c16r2="http://schemas.microsoft.com/office/drawing/2015/06/chart"/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DF3D-45A5-82CA-401691DE8D8B}"/>
            </c:ext>
          </c:extLst>
        </c:ser>
        <c:ser>
          <c:idx val="1"/>
          <c:order val="1"/>
          <c:tx>
            <c:strRef>
              <c:f>общий!$H$1</c:f>
              <c:strCache>
                <c:ptCount val="1"/>
                <c:pt idx="0">
                  <c:v>Sticky Factor Monthly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общий!$C$3:$C$121</c:f>
              <c:numCache>
                <c:formatCode>dd/mm/yyyy\ h:mm</c:formatCode>
                <c:ptCount val="119"/>
                <c:pt idx="0">
                  <c:v>44928</c:v>
                </c:pt>
                <c:pt idx="1">
                  <c:v>44929</c:v>
                </c:pt>
                <c:pt idx="2">
                  <c:v>44930</c:v>
                </c:pt>
                <c:pt idx="3">
                  <c:v>44931</c:v>
                </c:pt>
                <c:pt idx="4">
                  <c:v>44932</c:v>
                </c:pt>
                <c:pt idx="5">
                  <c:v>44933</c:v>
                </c:pt>
                <c:pt idx="6">
                  <c:v>44934</c:v>
                </c:pt>
                <c:pt idx="7">
                  <c:v>44935</c:v>
                </c:pt>
                <c:pt idx="8">
                  <c:v>44936</c:v>
                </c:pt>
                <c:pt idx="9">
                  <c:v>44937</c:v>
                </c:pt>
                <c:pt idx="10">
                  <c:v>44938</c:v>
                </c:pt>
                <c:pt idx="11">
                  <c:v>44939</c:v>
                </c:pt>
                <c:pt idx="12">
                  <c:v>44940</c:v>
                </c:pt>
                <c:pt idx="13">
                  <c:v>44941</c:v>
                </c:pt>
                <c:pt idx="14">
                  <c:v>44942</c:v>
                </c:pt>
                <c:pt idx="15">
                  <c:v>44943</c:v>
                </c:pt>
                <c:pt idx="16">
                  <c:v>44944</c:v>
                </c:pt>
                <c:pt idx="17">
                  <c:v>44945</c:v>
                </c:pt>
                <c:pt idx="18">
                  <c:v>44946</c:v>
                </c:pt>
                <c:pt idx="19">
                  <c:v>44947</c:v>
                </c:pt>
                <c:pt idx="20">
                  <c:v>44948</c:v>
                </c:pt>
                <c:pt idx="21">
                  <c:v>44949</c:v>
                </c:pt>
                <c:pt idx="22">
                  <c:v>44950</c:v>
                </c:pt>
                <c:pt idx="23">
                  <c:v>44951</c:v>
                </c:pt>
                <c:pt idx="24">
                  <c:v>44952</c:v>
                </c:pt>
                <c:pt idx="25">
                  <c:v>44953</c:v>
                </c:pt>
                <c:pt idx="26">
                  <c:v>44954</c:v>
                </c:pt>
                <c:pt idx="27">
                  <c:v>44955</c:v>
                </c:pt>
                <c:pt idx="28">
                  <c:v>44956</c:v>
                </c:pt>
                <c:pt idx="29">
                  <c:v>44957</c:v>
                </c:pt>
                <c:pt idx="30">
                  <c:v>44958</c:v>
                </c:pt>
                <c:pt idx="31">
                  <c:v>44959</c:v>
                </c:pt>
                <c:pt idx="32">
                  <c:v>44960</c:v>
                </c:pt>
                <c:pt idx="33">
                  <c:v>44961</c:v>
                </c:pt>
                <c:pt idx="34">
                  <c:v>44962</c:v>
                </c:pt>
                <c:pt idx="35">
                  <c:v>44963</c:v>
                </c:pt>
                <c:pt idx="36">
                  <c:v>44964</c:v>
                </c:pt>
                <c:pt idx="37">
                  <c:v>44965</c:v>
                </c:pt>
                <c:pt idx="38">
                  <c:v>44966</c:v>
                </c:pt>
                <c:pt idx="39">
                  <c:v>44967</c:v>
                </c:pt>
                <c:pt idx="40">
                  <c:v>44968</c:v>
                </c:pt>
                <c:pt idx="41">
                  <c:v>44969</c:v>
                </c:pt>
                <c:pt idx="42">
                  <c:v>44970</c:v>
                </c:pt>
                <c:pt idx="43">
                  <c:v>44971</c:v>
                </c:pt>
                <c:pt idx="44">
                  <c:v>44972</c:v>
                </c:pt>
                <c:pt idx="45">
                  <c:v>44973</c:v>
                </c:pt>
                <c:pt idx="46">
                  <c:v>44974</c:v>
                </c:pt>
                <c:pt idx="47">
                  <c:v>44975</c:v>
                </c:pt>
                <c:pt idx="48">
                  <c:v>44976</c:v>
                </c:pt>
                <c:pt idx="49">
                  <c:v>44977</c:v>
                </c:pt>
                <c:pt idx="50">
                  <c:v>44978</c:v>
                </c:pt>
                <c:pt idx="51">
                  <c:v>44979</c:v>
                </c:pt>
                <c:pt idx="52">
                  <c:v>44980</c:v>
                </c:pt>
                <c:pt idx="53">
                  <c:v>44981</c:v>
                </c:pt>
                <c:pt idx="54">
                  <c:v>44982</c:v>
                </c:pt>
                <c:pt idx="55">
                  <c:v>44983</c:v>
                </c:pt>
                <c:pt idx="56">
                  <c:v>44984</c:v>
                </c:pt>
                <c:pt idx="57">
                  <c:v>44985</c:v>
                </c:pt>
                <c:pt idx="58">
                  <c:v>44986</c:v>
                </c:pt>
                <c:pt idx="59">
                  <c:v>44987</c:v>
                </c:pt>
                <c:pt idx="60">
                  <c:v>44988</c:v>
                </c:pt>
                <c:pt idx="61">
                  <c:v>44989</c:v>
                </c:pt>
                <c:pt idx="62">
                  <c:v>44990</c:v>
                </c:pt>
                <c:pt idx="63">
                  <c:v>44991</c:v>
                </c:pt>
                <c:pt idx="64">
                  <c:v>44992</c:v>
                </c:pt>
                <c:pt idx="65">
                  <c:v>44993</c:v>
                </c:pt>
                <c:pt idx="66">
                  <c:v>44994</c:v>
                </c:pt>
                <c:pt idx="67">
                  <c:v>44995</c:v>
                </c:pt>
                <c:pt idx="68">
                  <c:v>44996</c:v>
                </c:pt>
                <c:pt idx="69">
                  <c:v>44997</c:v>
                </c:pt>
                <c:pt idx="70">
                  <c:v>44998</c:v>
                </c:pt>
                <c:pt idx="71">
                  <c:v>44999</c:v>
                </c:pt>
                <c:pt idx="72">
                  <c:v>45000</c:v>
                </c:pt>
                <c:pt idx="73">
                  <c:v>45001</c:v>
                </c:pt>
                <c:pt idx="74">
                  <c:v>45002</c:v>
                </c:pt>
                <c:pt idx="75">
                  <c:v>45003</c:v>
                </c:pt>
                <c:pt idx="76">
                  <c:v>45004</c:v>
                </c:pt>
                <c:pt idx="77">
                  <c:v>45005</c:v>
                </c:pt>
                <c:pt idx="78">
                  <c:v>45006</c:v>
                </c:pt>
                <c:pt idx="79">
                  <c:v>45007</c:v>
                </c:pt>
                <c:pt idx="80">
                  <c:v>45008</c:v>
                </c:pt>
                <c:pt idx="81">
                  <c:v>45009</c:v>
                </c:pt>
                <c:pt idx="82">
                  <c:v>45010</c:v>
                </c:pt>
                <c:pt idx="83">
                  <c:v>45011</c:v>
                </c:pt>
                <c:pt idx="84">
                  <c:v>45012</c:v>
                </c:pt>
                <c:pt idx="85">
                  <c:v>45013</c:v>
                </c:pt>
                <c:pt idx="86">
                  <c:v>45014</c:v>
                </c:pt>
                <c:pt idx="87">
                  <c:v>45015</c:v>
                </c:pt>
                <c:pt idx="88">
                  <c:v>45016</c:v>
                </c:pt>
                <c:pt idx="89">
                  <c:v>45017</c:v>
                </c:pt>
                <c:pt idx="90">
                  <c:v>45018</c:v>
                </c:pt>
                <c:pt idx="91">
                  <c:v>45019</c:v>
                </c:pt>
                <c:pt idx="92">
                  <c:v>45020</c:v>
                </c:pt>
                <c:pt idx="93">
                  <c:v>45021</c:v>
                </c:pt>
                <c:pt idx="94">
                  <c:v>45022</c:v>
                </c:pt>
                <c:pt idx="95">
                  <c:v>45023</c:v>
                </c:pt>
                <c:pt idx="96">
                  <c:v>45024</c:v>
                </c:pt>
                <c:pt idx="97">
                  <c:v>45025</c:v>
                </c:pt>
                <c:pt idx="98">
                  <c:v>45026</c:v>
                </c:pt>
                <c:pt idx="99">
                  <c:v>45027</c:v>
                </c:pt>
                <c:pt idx="100">
                  <c:v>45028</c:v>
                </c:pt>
                <c:pt idx="101">
                  <c:v>45029</c:v>
                </c:pt>
                <c:pt idx="102">
                  <c:v>45030</c:v>
                </c:pt>
                <c:pt idx="103">
                  <c:v>45031</c:v>
                </c:pt>
                <c:pt idx="104">
                  <c:v>45032</c:v>
                </c:pt>
                <c:pt idx="105">
                  <c:v>45033</c:v>
                </c:pt>
                <c:pt idx="106">
                  <c:v>45034</c:v>
                </c:pt>
                <c:pt idx="107">
                  <c:v>45035</c:v>
                </c:pt>
                <c:pt idx="108">
                  <c:v>45036</c:v>
                </c:pt>
                <c:pt idx="109">
                  <c:v>45037</c:v>
                </c:pt>
                <c:pt idx="110">
                  <c:v>45038</c:v>
                </c:pt>
                <c:pt idx="111">
                  <c:v>45039</c:v>
                </c:pt>
                <c:pt idx="112">
                  <c:v>45040</c:v>
                </c:pt>
                <c:pt idx="113">
                  <c:v>45041</c:v>
                </c:pt>
                <c:pt idx="114">
                  <c:v>45042</c:v>
                </c:pt>
                <c:pt idx="115">
                  <c:v>45043</c:v>
                </c:pt>
                <c:pt idx="116">
                  <c:v>45044</c:v>
                </c:pt>
                <c:pt idx="117">
                  <c:v>45045</c:v>
                </c:pt>
                <c:pt idx="118">
                  <c:v>45046</c:v>
                </c:pt>
              </c:numCache>
              <c:extLst xmlns:c16r2="http://schemas.microsoft.com/office/drawing/2015/06/chart"/>
            </c:numRef>
          </c:cat>
          <c:val>
            <c:numRef>
              <c:f>общий!$H$3:$H$121</c:f>
              <c:numCache>
                <c:formatCode>0.000</c:formatCode>
                <c:ptCount val="119"/>
                <c:pt idx="0">
                  <c:v>6.5298507462686561E-2</c:v>
                </c:pt>
                <c:pt idx="1">
                  <c:v>7.4626865671641784E-2</c:v>
                </c:pt>
                <c:pt idx="2">
                  <c:v>8.5820895522388085E-2</c:v>
                </c:pt>
                <c:pt idx="3">
                  <c:v>6.7164179104477612E-2</c:v>
                </c:pt>
                <c:pt idx="4">
                  <c:v>8.5820895522388085E-2</c:v>
                </c:pt>
                <c:pt idx="5">
                  <c:v>6.5298507462686561E-2</c:v>
                </c:pt>
                <c:pt idx="6">
                  <c:v>9.8880597014925353E-2</c:v>
                </c:pt>
                <c:pt idx="7">
                  <c:v>9.8880597014925353E-2</c:v>
                </c:pt>
                <c:pt idx="8">
                  <c:v>9.7014925373134359E-2</c:v>
                </c:pt>
                <c:pt idx="9">
                  <c:v>0.12126865671641794</c:v>
                </c:pt>
                <c:pt idx="10">
                  <c:v>9.7014925373134359E-2</c:v>
                </c:pt>
                <c:pt idx="11">
                  <c:v>0.11567164179104479</c:v>
                </c:pt>
                <c:pt idx="12">
                  <c:v>0.14365671641791045</c:v>
                </c:pt>
                <c:pt idx="13">
                  <c:v>0.11380597014925373</c:v>
                </c:pt>
                <c:pt idx="14">
                  <c:v>0.13059701492537315</c:v>
                </c:pt>
                <c:pt idx="15">
                  <c:v>0.12313432835820898</c:v>
                </c:pt>
                <c:pt idx="16">
                  <c:v>0.13619402985074627</c:v>
                </c:pt>
                <c:pt idx="17">
                  <c:v>0.13619402985074627</c:v>
                </c:pt>
                <c:pt idx="18">
                  <c:v>0.1492537313432836</c:v>
                </c:pt>
                <c:pt idx="19">
                  <c:v>0.1399253731343284</c:v>
                </c:pt>
                <c:pt idx="20">
                  <c:v>0.1679104477611941</c:v>
                </c:pt>
                <c:pt idx="21">
                  <c:v>0.14552238805970152</c:v>
                </c:pt>
                <c:pt idx="22">
                  <c:v>0.1679104477611941</c:v>
                </c:pt>
                <c:pt idx="23">
                  <c:v>0.16417910447761191</c:v>
                </c:pt>
                <c:pt idx="24">
                  <c:v>0.15485074626865669</c:v>
                </c:pt>
                <c:pt idx="25">
                  <c:v>0.17164179104477614</c:v>
                </c:pt>
                <c:pt idx="26">
                  <c:v>0.18470149253731349</c:v>
                </c:pt>
                <c:pt idx="27">
                  <c:v>0.17350746268656722</c:v>
                </c:pt>
                <c:pt idx="28">
                  <c:v>0.21455223880597021</c:v>
                </c:pt>
                <c:pt idx="29">
                  <c:v>0.20149253731343286</c:v>
                </c:pt>
                <c:pt idx="30">
                  <c:v>0.16091954022988506</c:v>
                </c:pt>
                <c:pt idx="31">
                  <c:v>0.1235632183908046</c:v>
                </c:pt>
                <c:pt idx="32">
                  <c:v>0.14080459770114942</c:v>
                </c:pt>
                <c:pt idx="33">
                  <c:v>0.14367816091954019</c:v>
                </c:pt>
                <c:pt idx="34">
                  <c:v>0.13649425287356326</c:v>
                </c:pt>
                <c:pt idx="35">
                  <c:v>0.14080459770114942</c:v>
                </c:pt>
                <c:pt idx="36">
                  <c:v>0.12931034482758624</c:v>
                </c:pt>
                <c:pt idx="37">
                  <c:v>0.15373563218390807</c:v>
                </c:pt>
                <c:pt idx="38">
                  <c:v>0.14511494252873566</c:v>
                </c:pt>
                <c:pt idx="39">
                  <c:v>0.14942528735632193</c:v>
                </c:pt>
                <c:pt idx="40">
                  <c:v>0.14080459770114942</c:v>
                </c:pt>
                <c:pt idx="41">
                  <c:v>0.14511494252873566</c:v>
                </c:pt>
                <c:pt idx="42">
                  <c:v>0.13505747126436785</c:v>
                </c:pt>
                <c:pt idx="43">
                  <c:v>0.15517241379310345</c:v>
                </c:pt>
                <c:pt idx="44">
                  <c:v>0.14798850574712646</c:v>
                </c:pt>
                <c:pt idx="45">
                  <c:v>0.13649425287356326</c:v>
                </c:pt>
                <c:pt idx="46">
                  <c:v>0.15373563218390807</c:v>
                </c:pt>
                <c:pt idx="47">
                  <c:v>0.16666666666666666</c:v>
                </c:pt>
                <c:pt idx="48">
                  <c:v>0.1566091954022989</c:v>
                </c:pt>
                <c:pt idx="49">
                  <c:v>0.12068965517241381</c:v>
                </c:pt>
                <c:pt idx="50">
                  <c:v>0.14080459770114942</c:v>
                </c:pt>
                <c:pt idx="51">
                  <c:v>0.16522988505747133</c:v>
                </c:pt>
                <c:pt idx="52">
                  <c:v>0.13649425287356326</c:v>
                </c:pt>
                <c:pt idx="53">
                  <c:v>0.15229885057471271</c:v>
                </c:pt>
                <c:pt idx="54">
                  <c:v>0.16954022988505746</c:v>
                </c:pt>
                <c:pt idx="55">
                  <c:v>0.18247126436781613</c:v>
                </c:pt>
                <c:pt idx="56">
                  <c:v>0.14942528735632193</c:v>
                </c:pt>
                <c:pt idx="57">
                  <c:v>0.18821839080459776</c:v>
                </c:pt>
                <c:pt idx="58">
                  <c:v>8.4196891191709866E-2</c:v>
                </c:pt>
                <c:pt idx="59">
                  <c:v>8.9378238341968924E-2</c:v>
                </c:pt>
                <c:pt idx="60">
                  <c:v>0.10816062176165807</c:v>
                </c:pt>
                <c:pt idx="61">
                  <c:v>0.1101036269430052</c:v>
                </c:pt>
                <c:pt idx="62">
                  <c:v>0.10686528497409328</c:v>
                </c:pt>
                <c:pt idx="63">
                  <c:v>9.6502590673575125E-2</c:v>
                </c:pt>
                <c:pt idx="64">
                  <c:v>9.7797927461139897E-2</c:v>
                </c:pt>
                <c:pt idx="65">
                  <c:v>0.11204663212435233</c:v>
                </c:pt>
                <c:pt idx="66">
                  <c:v>9.7150259067357511E-2</c:v>
                </c:pt>
                <c:pt idx="67">
                  <c:v>0.10492227979274611</c:v>
                </c:pt>
                <c:pt idx="68">
                  <c:v>0.1133419689119171</c:v>
                </c:pt>
                <c:pt idx="69">
                  <c:v>0.11398963730569948</c:v>
                </c:pt>
                <c:pt idx="70">
                  <c:v>0.11658031088082901</c:v>
                </c:pt>
                <c:pt idx="71">
                  <c:v>0.10880829015544041</c:v>
                </c:pt>
                <c:pt idx="72">
                  <c:v>0.11981865284974091</c:v>
                </c:pt>
                <c:pt idx="73">
                  <c:v>0.11722797927461143</c:v>
                </c:pt>
                <c:pt idx="74">
                  <c:v>0.11139896373056994</c:v>
                </c:pt>
                <c:pt idx="75">
                  <c:v>0.12111398963730569</c:v>
                </c:pt>
                <c:pt idx="76">
                  <c:v>0.14119170984455956</c:v>
                </c:pt>
                <c:pt idx="77">
                  <c:v>0.11917098445595856</c:v>
                </c:pt>
                <c:pt idx="78">
                  <c:v>0.12564766839378236</c:v>
                </c:pt>
                <c:pt idx="79">
                  <c:v>8.4844559585492252E-2</c:v>
                </c:pt>
                <c:pt idx="80">
                  <c:v>0.11398963730569948</c:v>
                </c:pt>
                <c:pt idx="81">
                  <c:v>8.8082901554404167E-2</c:v>
                </c:pt>
                <c:pt idx="82">
                  <c:v>9.9093264248704654E-2</c:v>
                </c:pt>
                <c:pt idx="83">
                  <c:v>0.10297927461139897</c:v>
                </c:pt>
                <c:pt idx="84">
                  <c:v>9.2616580310880825E-2</c:v>
                </c:pt>
                <c:pt idx="85">
                  <c:v>0.10103626943005184</c:v>
                </c:pt>
                <c:pt idx="86">
                  <c:v>9.7797927461139897E-2</c:v>
                </c:pt>
                <c:pt idx="87">
                  <c:v>9.5854922279792781E-2</c:v>
                </c:pt>
                <c:pt idx="88">
                  <c:v>0.11917098445595856</c:v>
                </c:pt>
                <c:pt idx="89">
                  <c:v>0.1986368062317429</c:v>
                </c:pt>
                <c:pt idx="90">
                  <c:v>0.20934761441090557</c:v>
                </c:pt>
                <c:pt idx="91">
                  <c:v>0.19279454722492698</c:v>
                </c:pt>
                <c:pt idx="92">
                  <c:v>0.19376825705939632</c:v>
                </c:pt>
                <c:pt idx="93">
                  <c:v>0.18305744888023376</c:v>
                </c:pt>
                <c:pt idx="94">
                  <c:v>0.19182083739045763</c:v>
                </c:pt>
                <c:pt idx="95">
                  <c:v>0.18695228821811102</c:v>
                </c:pt>
                <c:pt idx="96">
                  <c:v>0.19474196689386566</c:v>
                </c:pt>
                <c:pt idx="97">
                  <c:v>0.18695228821811102</c:v>
                </c:pt>
                <c:pt idx="98">
                  <c:v>0.16747809152872448</c:v>
                </c:pt>
                <c:pt idx="99">
                  <c:v>0.15579357351509254</c:v>
                </c:pt>
                <c:pt idx="100">
                  <c:v>0.16358325219084716</c:v>
                </c:pt>
                <c:pt idx="101">
                  <c:v>0.16650438169425513</c:v>
                </c:pt>
                <c:pt idx="102">
                  <c:v>0.14995131450827656</c:v>
                </c:pt>
                <c:pt idx="103">
                  <c:v>0.14216163583252195</c:v>
                </c:pt>
                <c:pt idx="104">
                  <c:v>0.1616358325219085</c:v>
                </c:pt>
                <c:pt idx="105">
                  <c:v>0.13047711781888993</c:v>
                </c:pt>
                <c:pt idx="106">
                  <c:v>0.1450827653359299</c:v>
                </c:pt>
                <c:pt idx="107">
                  <c:v>0.12852969814995133</c:v>
                </c:pt>
                <c:pt idx="108">
                  <c:v>0.12755598831548198</c:v>
                </c:pt>
                <c:pt idx="109">
                  <c:v>0.10126582278481015</c:v>
                </c:pt>
                <c:pt idx="110">
                  <c:v>0.10223953261927947</c:v>
                </c:pt>
                <c:pt idx="111">
                  <c:v>0.10223953261927947</c:v>
                </c:pt>
                <c:pt idx="112">
                  <c:v>8.7633885102239559E-2</c:v>
                </c:pt>
                <c:pt idx="113">
                  <c:v>9.8344693281402162E-2</c:v>
                </c:pt>
                <c:pt idx="114">
                  <c:v>8.9581304771178205E-2</c:v>
                </c:pt>
                <c:pt idx="115">
                  <c:v>6.621226874391431E-2</c:v>
                </c:pt>
                <c:pt idx="116">
                  <c:v>7.3028237585199621E-2</c:v>
                </c:pt>
                <c:pt idx="117">
                  <c:v>7.108081791626096E-2</c:v>
                </c:pt>
                <c:pt idx="118">
                  <c:v>6.9133398247322314E-2</c:v>
                </c:pt>
              </c:numCache>
              <c:extLst xmlns:c16r2="http://schemas.microsoft.com/office/drawing/2015/06/chart"/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DF3D-45A5-82CA-401691DE8D8B}"/>
            </c:ext>
          </c:extLst>
        </c:ser>
        <c:dLbls/>
        <c:marker val="1"/>
        <c:axId val="116939392"/>
        <c:axId val="116945664"/>
      </c:lineChart>
      <c:dateAx>
        <c:axId val="116939392"/>
        <c:scaling>
          <c:orientation val="minMax"/>
        </c:scaling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[$-419]mmmm;@" sourceLinked="0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6945664"/>
        <c:crosses val="autoZero"/>
        <c:auto val="1"/>
        <c:lblOffset val="100"/>
        <c:baseTimeUnit val="days"/>
        <c:majorUnit val="1"/>
        <c:majorTimeUnit val="months"/>
      </c:dateAx>
      <c:valAx>
        <c:axId val="116945664"/>
        <c:scaling>
          <c:orientation val="minMax"/>
        </c:scaling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уникальных пользователей</a:t>
                </a:r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0.000" sourceLinked="1"/>
        <c:maj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69393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2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400" b="0" i="0" u="none" strike="noStrike" baseline="0">
                <a:effectLst/>
              </a:rPr>
              <a:t>Динамика суммарных клиентских выплат по месяцам в разрезе по типам продукта</a:t>
            </a:r>
            <a:endParaRPr lang="ru-RU"/>
          </a:p>
        </c:rich>
      </c:tx>
      <c:layout>
        <c:manualLayout>
          <c:xMode val="edge"/>
          <c:yMode val="edge"/>
          <c:x val="0.11839656406585541"/>
          <c:y val="2.2965914862331092E-2"/>
        </c:manualLayout>
      </c:layout>
      <c:spPr>
        <a:noFill/>
        <a:ln>
          <a:noFill/>
        </a:ln>
        <a:effectLst/>
      </c:spPr>
    </c:title>
    <c:plotArea>
      <c:layout/>
      <c:barChart>
        <c:barDir val="col"/>
        <c:grouping val="clustered"/>
        <c:ser>
          <c:idx val="0"/>
          <c:order val="0"/>
          <c:tx>
            <c:strRef>
              <c:f>'Результат запроса'!$A$2</c:f>
              <c:strCache>
                <c:ptCount val="1"/>
                <c:pt idx="0">
                  <c:v>Ammo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'Результат запроса'!$B$1:$K$1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запроса'!$B$2:$K$2</c:f>
              <c:numCache>
                <c:formatCode>#,##0</c:formatCode>
                <c:ptCount val="10"/>
                <c:pt idx="0">
                  <c:v>11500</c:v>
                </c:pt>
                <c:pt idx="1">
                  <c:v>14750</c:v>
                </c:pt>
                <c:pt idx="2">
                  <c:v>18500</c:v>
                </c:pt>
                <c:pt idx="3">
                  <c:v>16250</c:v>
                </c:pt>
                <c:pt idx="4">
                  <c:v>22250</c:v>
                </c:pt>
                <c:pt idx="5">
                  <c:v>11250</c:v>
                </c:pt>
                <c:pt idx="6">
                  <c:v>31000</c:v>
                </c:pt>
                <c:pt idx="7">
                  <c:v>32500</c:v>
                </c:pt>
                <c:pt idx="8">
                  <c:v>49000</c:v>
                </c:pt>
                <c:pt idx="9">
                  <c:v>16750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DB86-48F7-9177-AC9F15D63530}"/>
            </c:ext>
          </c:extLst>
        </c:ser>
        <c:ser>
          <c:idx val="1"/>
          <c:order val="1"/>
          <c:tx>
            <c:strRef>
              <c:f>'Результат запроса'!$A$3</c:f>
              <c:strCache>
                <c:ptCount val="1"/>
                <c:pt idx="0">
                  <c:v>Currency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'Результат запроса'!$B$1:$K$1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запроса'!$B$3:$K$3</c:f>
              <c:numCache>
                <c:formatCode>#,##0</c:formatCode>
                <c:ptCount val="10"/>
                <c:pt idx="0">
                  <c:v>12930</c:v>
                </c:pt>
                <c:pt idx="1">
                  <c:v>39170</c:v>
                </c:pt>
                <c:pt idx="2">
                  <c:v>25580</c:v>
                </c:pt>
                <c:pt idx="3">
                  <c:v>31280</c:v>
                </c:pt>
                <c:pt idx="4">
                  <c:v>24580</c:v>
                </c:pt>
                <c:pt idx="5">
                  <c:v>26730</c:v>
                </c:pt>
                <c:pt idx="6">
                  <c:v>49300</c:v>
                </c:pt>
                <c:pt idx="7">
                  <c:v>45180</c:v>
                </c:pt>
                <c:pt idx="8">
                  <c:v>106440</c:v>
                </c:pt>
                <c:pt idx="9">
                  <c:v>39800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DB86-48F7-9177-AC9F15D63530}"/>
            </c:ext>
          </c:extLst>
        </c:ser>
        <c:ser>
          <c:idx val="2"/>
          <c:order val="2"/>
          <c:tx>
            <c:strRef>
              <c:f>'Результат запроса'!$A$4</c:f>
              <c:strCache>
                <c:ptCount val="1"/>
                <c:pt idx="0">
                  <c:v>Materials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cat>
            <c:numRef>
              <c:f>'Результат запроса'!$B$1:$K$1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запроса'!$B$4:$K$4</c:f>
              <c:numCache>
                <c:formatCode>#,##0</c:formatCode>
                <c:ptCount val="10"/>
                <c:pt idx="0">
                  <c:v>14700</c:v>
                </c:pt>
                <c:pt idx="1">
                  <c:v>11900</c:v>
                </c:pt>
                <c:pt idx="2">
                  <c:v>21800</c:v>
                </c:pt>
                <c:pt idx="3">
                  <c:v>18800</c:v>
                </c:pt>
                <c:pt idx="4">
                  <c:v>20400</c:v>
                </c:pt>
                <c:pt idx="5">
                  <c:v>18800</c:v>
                </c:pt>
                <c:pt idx="6">
                  <c:v>27000</c:v>
                </c:pt>
                <c:pt idx="7">
                  <c:v>30200</c:v>
                </c:pt>
                <c:pt idx="8">
                  <c:v>46500</c:v>
                </c:pt>
                <c:pt idx="9">
                  <c:v>26500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DB86-48F7-9177-AC9F15D63530}"/>
            </c:ext>
          </c:extLst>
        </c:ser>
        <c:ser>
          <c:idx val="3"/>
          <c:order val="3"/>
          <c:tx>
            <c:strRef>
              <c:f>'Результат запроса'!$A$5</c:f>
              <c:strCache>
                <c:ptCount val="1"/>
                <c:pt idx="0">
                  <c:v>Transport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cat>
            <c:numRef>
              <c:f>'Результат запроса'!$B$1:$K$1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запроса'!$B$5:$K$5</c:f>
              <c:numCache>
                <c:formatCode>#,##0</c:formatCode>
                <c:ptCount val="10"/>
                <c:pt idx="0">
                  <c:v>9485</c:v>
                </c:pt>
                <c:pt idx="1">
                  <c:v>11681</c:v>
                </c:pt>
                <c:pt idx="2">
                  <c:v>5291</c:v>
                </c:pt>
                <c:pt idx="3">
                  <c:v>9584</c:v>
                </c:pt>
                <c:pt idx="4">
                  <c:v>10782</c:v>
                </c:pt>
                <c:pt idx="5">
                  <c:v>5691</c:v>
                </c:pt>
                <c:pt idx="6">
                  <c:v>15374</c:v>
                </c:pt>
                <c:pt idx="7">
                  <c:v>15374</c:v>
                </c:pt>
                <c:pt idx="8">
                  <c:v>13578</c:v>
                </c:pt>
                <c:pt idx="9">
                  <c:v>10281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DB86-48F7-9177-AC9F15D63530}"/>
            </c:ext>
          </c:extLst>
        </c:ser>
        <c:ser>
          <c:idx val="4"/>
          <c:order val="4"/>
          <c:tx>
            <c:strRef>
              <c:f>'Результат запроса'!$A$6</c:f>
              <c:strCache>
                <c:ptCount val="1"/>
                <c:pt idx="0">
                  <c:v>Weapon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cat>
            <c:numRef>
              <c:f>'Результат запроса'!$B$1:$K$1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запроса'!$B$6:$K$6</c:f>
              <c:numCache>
                <c:formatCode>#,##0</c:formatCode>
                <c:ptCount val="10"/>
                <c:pt idx="0">
                  <c:v>798</c:v>
                </c:pt>
                <c:pt idx="1">
                  <c:v>1270</c:v>
                </c:pt>
                <c:pt idx="2">
                  <c:v>2039</c:v>
                </c:pt>
                <c:pt idx="3">
                  <c:v>599</c:v>
                </c:pt>
                <c:pt idx="4">
                  <c:v>1807</c:v>
                </c:pt>
                <c:pt idx="5">
                  <c:v>609</c:v>
                </c:pt>
                <c:pt idx="6">
                  <c:v>4064</c:v>
                </c:pt>
                <c:pt idx="7">
                  <c:v>1258</c:v>
                </c:pt>
                <c:pt idx="8">
                  <c:v>3670</c:v>
                </c:pt>
                <c:pt idx="9">
                  <c:v>1669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DB86-48F7-9177-AC9F15D63530}"/>
            </c:ext>
          </c:extLst>
        </c:ser>
        <c:dLbls/>
        <c:gapWidth val="219"/>
        <c:overlap val="-27"/>
        <c:axId val="117140480"/>
        <c:axId val="117150848"/>
      </c:barChart>
      <c:dateAx>
        <c:axId val="117140480"/>
        <c:scaling>
          <c:orientation val="minMax"/>
        </c:scaling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Месяцы</a:t>
                </a:r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[$-419]mmmm\ yyyy;@" sourceLinked="1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150848"/>
        <c:crosses val="autoZero"/>
        <c:auto val="1"/>
        <c:lblOffset val="100"/>
        <c:baseTimeUnit val="months"/>
      </c:dateAx>
      <c:valAx>
        <c:axId val="117150848"/>
        <c:scaling>
          <c:orientation val="minMax"/>
        </c:scaling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Выручка, руб.</a:t>
                </a:r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#,##0" sourceLinked="1"/>
        <c:maj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1404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2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Анализ повышения цены на кристаллы </a:t>
            </a:r>
          </a:p>
        </c:rich>
      </c:tx>
      <c:layout/>
      <c:spPr>
        <a:noFill/>
        <a:ln>
          <a:noFill/>
        </a:ln>
        <a:effectLst/>
      </c:spPr>
    </c:title>
    <c:plotArea>
      <c:layout/>
      <c:barChart>
        <c:barDir val="col"/>
        <c:grouping val="clustered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Среднее количество кристаллов на покупку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#\ ##0.##</c:formatCode>
                <c:ptCount val="10"/>
                <c:pt idx="0" formatCode="#,##0">
                  <c:v>29</c:v>
                </c:pt>
                <c:pt idx="1">
                  <c:v>31.562499999999996</c:v>
                </c:pt>
                <c:pt idx="2">
                  <c:v>32.173913043478265</c:v>
                </c:pt>
                <c:pt idx="3" formatCode="#,##0">
                  <c:v>28</c:v>
                </c:pt>
                <c:pt idx="4">
                  <c:v>29.6</c:v>
                </c:pt>
                <c:pt idx="5" formatCode="#,##0">
                  <c:v>30</c:v>
                </c:pt>
                <c:pt idx="6">
                  <c:v>19.117647058823533</c:v>
                </c:pt>
                <c:pt idx="7">
                  <c:v>17.352941176470591</c:v>
                </c:pt>
                <c:pt idx="8">
                  <c:v>22.051282051282051</c:v>
                </c:pt>
                <c:pt idx="9">
                  <c:v>23.076923076923073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56F-4806-B41C-21317E413CED}"/>
            </c:ext>
          </c:extLst>
        </c:ser>
        <c:dLbls/>
        <c:axId val="117332608"/>
        <c:axId val="117330688"/>
      </c:barChart>
      <c:lineChart>
        <c:grouping val="standard"/>
        <c:ser>
          <c:idx val="1"/>
          <c:order val="1"/>
          <c:tx>
            <c:strRef>
              <c:f>'Результат запроса'!$C$1</c:f>
              <c:strCache>
                <c:ptCount val="1"/>
                <c:pt idx="0">
                  <c:v>Выручка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запроса'!$C$2:$C$11</c:f>
              <c:numCache>
                <c:formatCode>#,##0</c:formatCode>
                <c:ptCount val="10"/>
                <c:pt idx="0">
                  <c:v>4930</c:v>
                </c:pt>
                <c:pt idx="1">
                  <c:v>17170</c:v>
                </c:pt>
                <c:pt idx="2">
                  <c:v>12580</c:v>
                </c:pt>
                <c:pt idx="3">
                  <c:v>14280</c:v>
                </c:pt>
                <c:pt idx="4">
                  <c:v>12580</c:v>
                </c:pt>
                <c:pt idx="5">
                  <c:v>11730</c:v>
                </c:pt>
                <c:pt idx="6">
                  <c:v>14300</c:v>
                </c:pt>
                <c:pt idx="7">
                  <c:v>12980</c:v>
                </c:pt>
                <c:pt idx="8">
                  <c:v>37840</c:v>
                </c:pt>
                <c:pt idx="9">
                  <c:v>13200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656F-4806-B41C-21317E413CED}"/>
            </c:ext>
          </c:extLst>
        </c:ser>
        <c:dLbls/>
        <c:marker val="1"/>
        <c:axId val="117314304"/>
        <c:axId val="117316224"/>
      </c:lineChart>
      <c:dateAx>
        <c:axId val="117314304"/>
        <c:scaling>
          <c:orientation val="minMax"/>
        </c:scaling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[$-419]mmmm\ yyyy;@" sourceLinked="1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16224"/>
        <c:crosses val="autoZero"/>
        <c:auto val="1"/>
        <c:lblOffset val="100"/>
        <c:baseTimeUnit val="months"/>
      </c:dateAx>
      <c:valAx>
        <c:axId val="117316224"/>
        <c:scaling>
          <c:orientation val="minMax"/>
        </c:scaling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Рублей</a:t>
                </a:r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#,##0" sourceLinked="1"/>
        <c:maj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14304"/>
        <c:crosses val="autoZero"/>
        <c:crossBetween val="between"/>
      </c:valAx>
      <c:valAx>
        <c:axId val="117330688"/>
        <c:scaling>
          <c:orientation val="minMax"/>
        </c:scaling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Шт</a:t>
                </a:r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#,##0" sourceLinked="1"/>
        <c:tickLblPos val="nextTo"/>
        <c:spPr>
          <a:noFill/>
          <a:ln>
            <a:solidFill>
              <a:srgbClr val="90C226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32608"/>
        <c:crosses val="max"/>
        <c:crossBetween val="between"/>
      </c:valAx>
      <c:dateAx>
        <c:axId val="117332608"/>
        <c:scaling>
          <c:orientation val="minMax"/>
        </c:scaling>
        <c:delete val="1"/>
        <c:axPos val="b"/>
        <c:numFmt formatCode="[$-419]mmmm\ yyyy;@" sourceLinked="1"/>
        <c:tickLblPos val="nextTo"/>
        <c:crossAx val="117330688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layout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2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Анализ средних платежей</a:t>
            </a:r>
            <a:r>
              <a:rPr lang="ru-RU" baseline="0"/>
              <a:t> по когортам</a:t>
            </a:r>
            <a:endParaRPr lang="ru-RU"/>
          </a:p>
        </c:rich>
      </c:tx>
      <c:layout/>
      <c:spPr>
        <a:noFill/>
        <a:ln>
          <a:noFill/>
        </a:ln>
        <a:effectLst/>
      </c:spPr>
    </c:title>
    <c:plotArea>
      <c:layout/>
      <c:barChart>
        <c:barDir val="col"/>
        <c:grouping val="clustered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'Результат запроса'!$A$2:$A$10</c:f>
              <c:numCache>
                <c:formatCode>[$-419]mmmm\ yyyy;@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запроса'!$B$2:$B$10</c:f>
              <c:numCache>
                <c:formatCode>#,##0</c:formatCode>
                <c:ptCount val="9"/>
                <c:pt idx="0">
                  <c:v>84168</c:v>
                </c:pt>
                <c:pt idx="1">
                  <c:v>65006</c:v>
                </c:pt>
                <c:pt idx="2">
                  <c:v>86312</c:v>
                </c:pt>
                <c:pt idx="3">
                  <c:v>80844</c:v>
                </c:pt>
                <c:pt idx="4">
                  <c:v>80719</c:v>
                </c:pt>
                <c:pt idx="5">
                  <c:v>82357</c:v>
                </c:pt>
                <c:pt idx="6">
                  <c:v>129700</c:v>
                </c:pt>
                <c:pt idx="7">
                  <c:v>143247</c:v>
                </c:pt>
                <c:pt idx="8">
                  <c:v>224011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13EA-43CF-9389-AA6CF723BA4D}"/>
            </c:ext>
          </c:extLst>
        </c:ser>
        <c:ser>
          <c:idx val="1"/>
          <c:order val="1"/>
          <c:tx>
            <c:strRef>
              <c:f>'Результат запроса'!$C$1</c:f>
              <c:strCache>
                <c:ptCount val="1"/>
                <c:pt idx="0">
                  <c:v>cnt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'Результат запроса'!$A$2:$A$10</c:f>
              <c:numCache>
                <c:formatCode>[$-419]mmmm\ yyyy;@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запроса'!$C$2:$C$10</c:f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13EA-43CF-9389-AA6CF723BA4D}"/>
            </c:ext>
          </c:extLst>
        </c:ser>
        <c:ser>
          <c:idx val="2"/>
          <c:order val="2"/>
          <c:tx>
            <c:strRef>
              <c:f>'Результат запроса'!$D$1</c:f>
              <c:strCache>
                <c:ptCount val="1"/>
                <c:pt idx="0">
                  <c:v>avg_rev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cat>
            <c:numRef>
              <c:f>'Результат запроса'!$A$2:$A$10</c:f>
              <c:numCache>
                <c:formatCode>[$-419]mmmm\ yyyy;@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запроса'!$D$2:$D$10</c:f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13EA-43CF-9389-AA6CF723BA4D}"/>
            </c:ext>
          </c:extLst>
        </c:ser>
        <c:ser>
          <c:idx val="3"/>
          <c:order val="3"/>
          <c:tx>
            <c:strRef>
              <c:f>'Результат запроса'!$E$1</c:f>
              <c:strCache>
                <c:ptCount val="1"/>
                <c:pt idx="0">
                  <c:v>interv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cat>
            <c:numRef>
              <c:f>'Результат запроса'!$A$2:$A$10</c:f>
              <c:numCache>
                <c:formatCode>[$-419]mmmm\ yyyy;@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запроса'!$E$2:$E$10</c:f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13EA-43CF-9389-AA6CF723BA4D}"/>
            </c:ext>
          </c:extLst>
        </c:ser>
        <c:dLbls/>
        <c:axId val="117032832"/>
        <c:axId val="117272576"/>
      </c:barChart>
      <c:lineChart>
        <c:grouping val="standard"/>
        <c:ser>
          <c:idx val="4"/>
          <c:order val="4"/>
          <c:tx>
            <c:strRef>
              <c:f>'Результат запроса'!$F$1</c:f>
              <c:strCache>
                <c:ptCount val="1"/>
                <c:pt idx="0">
                  <c:v>Средняя выручка в месяц на игрока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'Результат запроса'!$A$2:$A$10</c:f>
              <c:numCache>
                <c:formatCode>[$-419]mmmm\ yyyy;@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запроса'!$F$2:$F$10</c:f>
              <c:numCache>
                <c:formatCode>#\ ##0.##</c:formatCode>
                <c:ptCount val="9"/>
                <c:pt idx="0">
                  <c:v>118.54647887323942</c:v>
                </c:pt>
                <c:pt idx="1">
                  <c:v>95.038011695906434</c:v>
                </c:pt>
                <c:pt idx="2">
                  <c:v>150.3693379790941</c:v>
                </c:pt>
                <c:pt idx="3">
                  <c:v>154.87356321839076</c:v>
                </c:pt>
                <c:pt idx="4">
                  <c:v>209.65974025974023</c:v>
                </c:pt>
                <c:pt idx="5">
                  <c:v>248.06325301204816</c:v>
                </c:pt>
                <c:pt idx="6">
                  <c:v>340.4199475065617</c:v>
                </c:pt>
                <c:pt idx="7">
                  <c:v>577.60887096774218</c:v>
                </c:pt>
                <c:pt idx="8">
                  <c:v>1087.4320388349511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13EA-43CF-9389-AA6CF723BA4D}"/>
            </c:ext>
          </c:extLst>
        </c:ser>
        <c:dLbls/>
        <c:marker val="1"/>
        <c:axId val="117350400"/>
        <c:axId val="117274496"/>
      </c:lineChart>
      <c:dateAx>
        <c:axId val="117032832"/>
        <c:scaling>
          <c:orientation val="minMax"/>
        </c:scaling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[$-419]mmmm\ yyyy;@" sourceLinked="1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272576"/>
        <c:crosses val="autoZero"/>
        <c:auto val="1"/>
        <c:lblOffset val="100"/>
        <c:baseTimeUnit val="months"/>
      </c:dateAx>
      <c:valAx>
        <c:axId val="117272576"/>
        <c:scaling>
          <c:orientation val="minMax"/>
        </c:scaling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Рубли</a:t>
                </a:r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#,##0" sourceLinked="1"/>
        <c:maj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032832"/>
        <c:crosses val="autoZero"/>
        <c:crossBetween val="between"/>
      </c:valAx>
      <c:valAx>
        <c:axId val="117274496"/>
        <c:scaling>
          <c:orientation val="minMax"/>
        </c:scaling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Рубли</a:t>
                </a:r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#\ ##0.##" sourceLinked="1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0400"/>
        <c:crosses val="max"/>
        <c:crossBetween val="between"/>
      </c:valAx>
      <c:dateAx>
        <c:axId val="117350400"/>
        <c:scaling>
          <c:orientation val="minMax"/>
        </c:scaling>
        <c:delete val="1"/>
        <c:axPos val="b"/>
        <c:numFmt formatCode="[$-419]mmmm\ yyyy;@" sourceLinked="1"/>
        <c:tickLblPos val="nextTo"/>
        <c:crossAx val="117274496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layout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2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clrMapOvr bg1="lt1" tx1="dk1" bg2="lt2" tx2="dk2" accent1="accent1" accent2="accent2" accent3="accent3" accent4="accent4" accent5="accent5" accent6="accent6" hlink="hlink" folHlink="folHlink"/>
  <c:chart>
    <c:title>
      <c:layout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plotArea>
      <c:layout/>
      <c:scatterChart>
        <c:scatterStyle val="lineMarker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Количество лояльных пользователей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'Результат запроса'!$A$2:$A$11</c:f>
              <c:numCache>
                <c:formatCode>[$-419]mmmm\ yyyy;@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xVal>
          <c:yVal>
            <c:numRef>
              <c:f>'Результат запроса'!$B$2:$B$11</c:f>
              <c:numCache>
                <c:formatCode>#,##0</c:formatCode>
                <c:ptCount val="10"/>
                <c:pt idx="0">
                  <c:v>96</c:v>
                </c:pt>
                <c:pt idx="1">
                  <c:v>182</c:v>
                </c:pt>
                <c:pt idx="2">
                  <c:v>174</c:v>
                </c:pt>
                <c:pt idx="3">
                  <c:v>176</c:v>
                </c:pt>
                <c:pt idx="4">
                  <c:v>200</c:v>
                </c:pt>
                <c:pt idx="5">
                  <c:v>185</c:v>
                </c:pt>
                <c:pt idx="6">
                  <c:v>264</c:v>
                </c:pt>
                <c:pt idx="7">
                  <c:v>326</c:v>
                </c:pt>
                <c:pt idx="8">
                  <c:v>686</c:v>
                </c:pt>
                <c:pt idx="9">
                  <c:v>448</c:v>
                </c:pt>
              </c:numCache>
            </c:numRef>
          </c:yVal>
          <c:extLst xmlns:c16r2="http://schemas.microsoft.com/office/drawing/2015/06/chart">
            <c:ext xmlns:c16="http://schemas.microsoft.com/office/drawing/2014/chart" uri="{C3380CC4-5D6E-409C-BE32-E72D297353CC}">
              <c16:uniqueId val="{00000000-BF1B-459E-832D-BC4778653281}"/>
            </c:ext>
          </c:extLst>
        </c:ser>
        <c:dLbls/>
        <c:axId val="117442048"/>
        <c:axId val="117443968"/>
      </c:scatterChart>
      <c:valAx>
        <c:axId val="117442048"/>
        <c:scaling>
          <c:orientation val="minMax"/>
        </c:scaling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[$-419]mmmm\ yyyy;@" sourceLinked="1"/>
        <c:maj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443968"/>
        <c:crosses val="autoZero"/>
        <c:crossBetween val="midCat"/>
      </c:valAx>
      <c:valAx>
        <c:axId val="117443968"/>
        <c:scaling>
          <c:orientation val="minMax"/>
        </c:scaling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игроков</a:t>
                </a:r>
              </a:p>
            </c:rich>
          </c:tx>
          <c:layout/>
          <c:spPr>
            <a:noFill/>
            <a:ln>
              <a:noFill/>
            </a:ln>
            <a:effectLst/>
          </c:spPr>
        </c:title>
        <c:numFmt formatCode="#,##0" sourceLinked="1"/>
        <c:maj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4420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2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C85E-E075-4506-9563-8973EBC7EE97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3E65-6E86-465B-81BD-3861AF5F797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40452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C85E-E075-4506-9563-8973EBC7EE97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3E65-6E86-465B-81BD-3861AF5F797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2972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C85E-E075-4506-9563-8973EBC7EE97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3E65-6E86-465B-81BD-3861AF5F797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88614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C85E-E075-4506-9563-8973EBC7EE97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3E65-6E86-465B-81BD-3861AF5F797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41011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C85E-E075-4506-9563-8973EBC7EE97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3E65-6E86-465B-81BD-3861AF5F797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347476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C85E-E075-4506-9563-8973EBC7EE97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3E65-6E86-465B-81BD-3861AF5F797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32963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C85E-E075-4506-9563-8973EBC7EE97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3E65-6E86-465B-81BD-3861AF5F797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2140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C85E-E075-4506-9563-8973EBC7EE97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3E65-6E86-465B-81BD-3861AF5F797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352992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C85E-E075-4506-9563-8973EBC7EE97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3E65-6E86-465B-81BD-3861AF5F797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42419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C85E-E075-4506-9563-8973EBC7EE97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3E65-6E86-465B-81BD-3861AF5F797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044115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C85E-E075-4506-9563-8973EBC7EE97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3E65-6E86-465B-81BD-3861AF5F797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7542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C85E-E075-4506-9563-8973EBC7EE97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3E65-6E86-465B-81BD-3861AF5F797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2846839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C85E-E075-4506-9563-8973EBC7EE97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3E65-6E86-465B-81BD-3861AF5F797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1595370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C85E-E075-4506-9563-8973EBC7EE97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3E65-6E86-465B-81BD-3861AF5F797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0144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C85E-E075-4506-9563-8973EBC7EE97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3E65-6E86-465B-81BD-3861AF5F797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5732863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C85E-E075-4506-9563-8973EBC7EE97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D3E65-6E86-465B-81BD-3861AF5F797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71283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9C85E-E075-4506-9563-8973EBC7EE97}" type="datetimeFigureOut">
              <a:rPr lang="ru-RU" smtClean="0"/>
              <a:pPr/>
              <a:t>27.04.2026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B2D3E65-6E86-465B-81BD-3861AF5F797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3491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41E1958-6526-C681-AE96-F288C5A1C0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dirty="0"/>
              <a:t>Курсовая работа по модулю </a:t>
            </a:r>
            <a:r>
              <a:rPr lang="en-US" dirty="0"/>
              <a:t>SQL</a:t>
            </a:r>
            <a:r>
              <a:rPr lang="ru-RU" dirty="0"/>
              <a:t>: анализ игры </a:t>
            </a:r>
            <a:r>
              <a:rPr lang="en-US" dirty="0"/>
              <a:t>Zombie Revolution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94406C90-003F-8B44-7E1D-4F59E40FA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44277"/>
            <a:ext cx="9144000" cy="1655762"/>
          </a:xfrm>
        </p:spPr>
        <p:txBody>
          <a:bodyPr/>
          <a:lstStyle/>
          <a:p>
            <a:pPr algn="l"/>
            <a:r>
              <a:rPr lang="ru-RU" dirty="0"/>
              <a:t>выполнила Бусырева Анастасия Александровна</a:t>
            </a:r>
          </a:p>
        </p:txBody>
      </p:sp>
    </p:spTree>
    <p:extLst>
      <p:ext uri="{BB962C8B-B14F-4D97-AF65-F5344CB8AC3E}">
        <p14:creationId xmlns:p14="http://schemas.microsoft.com/office/powerpoint/2010/main" xmlns="" val="23498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C6C0E29-D04B-E9AD-B0ED-040038EBF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42" y="647218"/>
            <a:ext cx="8596668" cy="1320800"/>
          </a:xfrm>
        </p:spPr>
        <p:txBody>
          <a:bodyPr/>
          <a:lstStyle/>
          <a:p>
            <a:r>
              <a:rPr lang="ru-RU" dirty="0"/>
              <a:t>Общие показатели игры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717CAFB0-B39C-D08E-E3B1-68402021D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081" y="1563746"/>
            <a:ext cx="4590952" cy="5574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Кол-во игроков: 3078 (апрель 2023)</a:t>
            </a:r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xmlns="" id="{B4CAF22F-12D4-3956-35B5-65A2AA3F3F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2956447352"/>
              </p:ext>
            </p:extLst>
          </p:nvPr>
        </p:nvGraphicFramePr>
        <p:xfrm>
          <a:off x="227499" y="2121190"/>
          <a:ext cx="4855534" cy="2948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Объект 5">
            <a:extLst>
              <a:ext uri="{FF2B5EF4-FFF2-40B4-BE49-F238E27FC236}">
                <a16:creationId xmlns:a16="http://schemas.microsoft.com/office/drawing/2014/main" xmlns="" id="{5000DB37-FAFF-EEA8-1918-4C73F981E4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467742492"/>
              </p:ext>
            </p:extLst>
          </p:nvPr>
        </p:nvGraphicFramePr>
        <p:xfrm>
          <a:off x="5678477" y="2235413"/>
          <a:ext cx="4985236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2618">
                  <a:extLst>
                    <a:ext uri="{9D8B030D-6E8A-4147-A177-3AD203B41FA5}">
                      <a16:colId xmlns:a16="http://schemas.microsoft.com/office/drawing/2014/main" xmlns="" val="557762456"/>
                    </a:ext>
                  </a:extLst>
                </a:gridCol>
                <a:gridCol w="2492618">
                  <a:extLst>
                    <a:ext uri="{9D8B030D-6E8A-4147-A177-3AD203B41FA5}">
                      <a16:colId xmlns:a16="http://schemas.microsoft.com/office/drawing/2014/main" xmlns="" val="1346527638"/>
                    </a:ext>
                  </a:extLst>
                </a:gridCol>
              </a:tblGrid>
              <a:tr h="251349">
                <a:tc gridSpan="2">
                  <a:txBody>
                    <a:bodyPr/>
                    <a:lstStyle/>
                    <a:p>
                      <a:r>
                        <a:rPr lang="ru-RU" dirty="0"/>
                        <a:t>Результаты реферальной программы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01017564"/>
                  </a:ext>
                </a:extLst>
              </a:tr>
              <a:tr h="855575"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игроков, рассылающих приглашения, чел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/>
                        <a:t>2 992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8611430"/>
                  </a:ext>
                </a:extLst>
              </a:tr>
              <a:tr h="598903"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разосланных приглашений, </a:t>
                      </a:r>
                      <a:r>
                        <a:rPr lang="ru-RU" dirty="0" err="1"/>
                        <a:t>шт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/>
                        <a:t>7 933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35522818"/>
                  </a:ext>
                </a:extLst>
              </a:tr>
              <a:tr h="598903">
                <a:tc>
                  <a:txBody>
                    <a:bodyPr/>
                    <a:lstStyle/>
                    <a:p>
                      <a:r>
                        <a:rPr lang="ru-RU" dirty="0"/>
                        <a:t>Доля регистраций по приглашениям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/>
                        <a:t>0,36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86913160"/>
                  </a:ext>
                </a:extLst>
              </a:tr>
            </a:tbl>
          </a:graphicData>
        </a:graphic>
      </p:graphicFrame>
      <p:sp>
        <p:nvSpPr>
          <p:cNvPr id="13" name="Объект 2">
            <a:extLst>
              <a:ext uri="{FF2B5EF4-FFF2-40B4-BE49-F238E27FC236}">
                <a16:creationId xmlns:a16="http://schemas.microsoft.com/office/drawing/2014/main" xmlns="" id="{75526E1A-131C-3574-3878-FC04450A9A77}"/>
              </a:ext>
            </a:extLst>
          </p:cNvPr>
          <p:cNvSpPr txBox="1">
            <a:spLocks/>
          </p:cNvSpPr>
          <p:nvPr/>
        </p:nvSpPr>
        <p:spPr>
          <a:xfrm>
            <a:off x="492081" y="5294254"/>
            <a:ext cx="8997360" cy="927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/>
              <a:t>Вывод: количество регистраций по месяцам растет, практически каждый пользователь приглашал в игру и 36% приглашений приводили к новым регистрациям</a:t>
            </a:r>
          </a:p>
          <a:p>
            <a:endParaRPr lang="ru-RU" dirty="0"/>
          </a:p>
          <a:p>
            <a:endParaRPr lang="ru-RU" dirty="0"/>
          </a:p>
          <a:p>
            <a:pPr marL="0" indent="0">
              <a:buFont typeface="Wingdings 3" charset="2"/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431906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8FDCE7A-CE46-7C65-70BE-C90BBDB14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613" y="894080"/>
            <a:ext cx="8596668" cy="1320800"/>
          </a:xfrm>
        </p:spPr>
        <p:txBody>
          <a:bodyPr/>
          <a:lstStyle/>
          <a:p>
            <a:r>
              <a:rPr lang="ru-RU" dirty="0"/>
              <a:t>Общие показатели игры</a:t>
            </a: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xmlns="" id="{AEDE9FF2-7DA0-EA7F-39A5-B2259C5341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413080393"/>
              </p:ext>
            </p:extLst>
          </p:nvPr>
        </p:nvGraphicFramePr>
        <p:xfrm>
          <a:off x="5576693" y="1900971"/>
          <a:ext cx="4693647" cy="3031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xmlns="" id="{7311C730-0226-F1B0-98DD-139F2AFDA9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1921905694"/>
              </p:ext>
            </p:extLst>
          </p:nvPr>
        </p:nvGraphicFramePr>
        <p:xfrm>
          <a:off x="328837" y="1900971"/>
          <a:ext cx="4958080" cy="28736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Объект 2">
            <a:extLst>
              <a:ext uri="{FF2B5EF4-FFF2-40B4-BE49-F238E27FC236}">
                <a16:creationId xmlns:a16="http://schemas.microsoft.com/office/drawing/2014/main" xmlns="" id="{AF6CAA18-BBA8-B01F-467E-C107049F6AA0}"/>
              </a:ext>
            </a:extLst>
          </p:cNvPr>
          <p:cNvSpPr txBox="1">
            <a:spLocks/>
          </p:cNvSpPr>
          <p:nvPr/>
        </p:nvSpPr>
        <p:spPr>
          <a:xfrm>
            <a:off x="444998" y="5405119"/>
            <a:ext cx="9034282" cy="1161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/>
              <a:t>Вывод: количество игровых сессий растет и среднее время игровой сессии тоже. Доля игровых сессий больше 5 мин (длинные игровые сессии) составляет в среднем 65-70%</a:t>
            </a:r>
          </a:p>
          <a:p>
            <a:endParaRPr lang="ru-RU" dirty="0"/>
          </a:p>
          <a:p>
            <a:endParaRPr lang="ru-RU" dirty="0"/>
          </a:p>
          <a:p>
            <a:pPr marL="0" indent="0">
              <a:buFont typeface="Wingdings 3" charset="2"/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84400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D407B1E-31FE-47D1-4927-23253526C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Технические проблемы</a:t>
            </a: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xmlns="" id="{213CE05C-C19F-6B29-56EE-C0B8833760C8}"/>
              </a:ext>
            </a:extLst>
          </p:cNvPr>
          <p:cNvSpPr txBox="1">
            <a:spLocks/>
          </p:cNvSpPr>
          <p:nvPr/>
        </p:nvSpPr>
        <p:spPr>
          <a:xfrm>
            <a:off x="677333" y="5100320"/>
            <a:ext cx="8903547" cy="1320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</a:pPr>
            <a:r>
              <a:rPr lang="ru-RU" dirty="0"/>
              <a:t>Вывод: наибольшее проблемных строк, приходится на устройства с </a:t>
            </a:r>
            <a:r>
              <a:rPr lang="ru-RU" dirty="0" err="1"/>
              <a:t>ios</a:t>
            </a:r>
            <a:r>
              <a:rPr lang="ru-RU" dirty="0"/>
              <a:t> - 3184, что составляет 18,98 % от общего количества игровых сессий на устройствах </a:t>
            </a:r>
            <a:r>
              <a:rPr lang="ru-RU" dirty="0" err="1"/>
              <a:t>ios</a:t>
            </a:r>
            <a:r>
              <a:rPr lang="ru-RU" dirty="0"/>
              <a:t>. На андроид же процент проблемных строк очень мал - 0,75 или 78 строк.</a:t>
            </a:r>
          </a:p>
          <a:p>
            <a:pPr marL="0" indent="0">
              <a:buFont typeface="Wingdings 3" charset="2"/>
              <a:buNone/>
            </a:pPr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>
              <a:buFont typeface="Wingdings 3" charset="2"/>
              <a:buNone/>
            </a:pPr>
            <a:endParaRPr lang="ru-RU" dirty="0"/>
          </a:p>
          <a:p>
            <a:endParaRPr lang="ru-RU" dirty="0"/>
          </a:p>
        </p:txBody>
      </p:sp>
      <p:graphicFrame>
        <p:nvGraphicFramePr>
          <p:cNvPr id="5" name="Диаграмма 4"/>
          <p:cNvGraphicFramePr/>
          <p:nvPr/>
        </p:nvGraphicFramePr>
        <p:xfrm>
          <a:off x="2653453" y="1615440"/>
          <a:ext cx="5652347" cy="3173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xmlns="" val="3394700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C4CC97D-54BD-6AFB-DAB1-63DD755F2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маркетинговой акции</a:t>
            </a: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xmlns="" id="{57622D10-3410-AE59-1BD5-7D2EDD09CB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676141708"/>
              </p:ext>
            </p:extLst>
          </p:nvPr>
        </p:nvGraphicFramePr>
        <p:xfrm>
          <a:off x="183996" y="1549140"/>
          <a:ext cx="4969324" cy="2900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xmlns="" id="{FE5A4BC0-A119-74C5-C2C6-702A720D79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4220953054"/>
              </p:ext>
            </p:extLst>
          </p:nvPr>
        </p:nvGraphicFramePr>
        <p:xfrm>
          <a:off x="5153320" y="1549140"/>
          <a:ext cx="5005339" cy="309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бъект 2">
            <a:extLst>
              <a:ext uri="{FF2B5EF4-FFF2-40B4-BE49-F238E27FC236}">
                <a16:creationId xmlns:a16="http://schemas.microsoft.com/office/drawing/2014/main" xmlns="" id="{0C958072-D9E0-BBB0-91B1-3C4EB09C9766}"/>
              </a:ext>
            </a:extLst>
          </p:cNvPr>
          <p:cNvSpPr txBox="1">
            <a:spLocks/>
          </p:cNvSpPr>
          <p:nvPr/>
        </p:nvSpPr>
        <p:spPr>
          <a:xfrm>
            <a:off x="390480" y="5044799"/>
            <a:ext cx="9322480" cy="108536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900" dirty="0"/>
              <a:t>Вывод: наблюдается рост DAU, WAU и MAU в дни проведения акции, но также в апреле наблюдается падение данных показателей. Стики фактор напротив упал в дни проведения акции, однако подрос после нее. База пользователей приросла, но это не заставило лояльных пользователей заходить в игру чаще </a:t>
            </a:r>
          </a:p>
          <a:p>
            <a:endParaRPr lang="ru-RU" dirty="0"/>
          </a:p>
          <a:p>
            <a:endParaRPr lang="ru-RU" dirty="0"/>
          </a:p>
          <a:p>
            <a:pPr marL="0" indent="0">
              <a:buFont typeface="Wingdings 3" charset="2"/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266108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60FE6D7-F034-9422-153A-488E219EC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614" y="915221"/>
            <a:ext cx="8596668" cy="1320800"/>
          </a:xfrm>
        </p:spPr>
        <p:txBody>
          <a:bodyPr/>
          <a:lstStyle/>
          <a:p>
            <a:r>
              <a:rPr lang="ru-RU" dirty="0"/>
              <a:t>Финансовые показатели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xmlns="" id="{86F59FAC-B4EB-BDA0-F68E-D427D10B8FD2}"/>
              </a:ext>
            </a:extLst>
          </p:cNvPr>
          <p:cNvSpPr txBox="1">
            <a:spLocks/>
          </p:cNvSpPr>
          <p:nvPr/>
        </p:nvSpPr>
        <p:spPr>
          <a:xfrm>
            <a:off x="279988" y="5942779"/>
            <a:ext cx="5055964" cy="688251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ru-RU" sz="3800" dirty="0"/>
              <a:t>Вывод: можно видеть, что основную выручку приносят такие типы продуктов, как валюта, боеприпасы и оружие, причем выручка растет за счет роста суммарных выплат этих продуктов. Особенно сильно выручка выросла в марте за счет роста суммарных выплат по типу товара – валюта.  </a:t>
            </a:r>
          </a:p>
          <a:p>
            <a:pPr algn="just">
              <a:lnSpc>
                <a:spcPct val="110000"/>
              </a:lnSpc>
            </a:pPr>
            <a:endParaRPr lang="ru-RU" sz="3800" dirty="0"/>
          </a:p>
          <a:p>
            <a:endParaRPr lang="ru-RU" dirty="0"/>
          </a:p>
          <a:p>
            <a:pPr marL="0" indent="0">
              <a:buFont typeface="Wingdings 3" charset="2"/>
              <a:buNone/>
            </a:pPr>
            <a:endParaRPr lang="ru-RU" dirty="0"/>
          </a:p>
          <a:p>
            <a:endParaRPr lang="ru-RU" dirty="0"/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xmlns="" id="{47EFB499-DA0F-1B8D-D28A-217324F620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3535009584"/>
              </p:ext>
            </p:extLst>
          </p:nvPr>
        </p:nvGraphicFramePr>
        <p:xfrm>
          <a:off x="0" y="2071825"/>
          <a:ext cx="5615940" cy="3870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xmlns="" id="{1D79921C-6023-35F2-8BAB-ECF99EB324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2863903094"/>
              </p:ext>
            </p:extLst>
          </p:nvPr>
        </p:nvGraphicFramePr>
        <p:xfrm>
          <a:off x="5440680" y="2182312"/>
          <a:ext cx="6065520" cy="3649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Объект 2">
            <a:extLst>
              <a:ext uri="{FF2B5EF4-FFF2-40B4-BE49-F238E27FC236}">
                <a16:creationId xmlns:a16="http://schemas.microsoft.com/office/drawing/2014/main" xmlns="" id="{D1A9F6E0-C7A8-9319-5DB1-E7F5C0658AEF}"/>
              </a:ext>
            </a:extLst>
          </p:cNvPr>
          <p:cNvSpPr txBox="1">
            <a:spLocks/>
          </p:cNvSpPr>
          <p:nvPr/>
        </p:nvSpPr>
        <p:spPr>
          <a:xfrm>
            <a:off x="5615940" y="5942779"/>
            <a:ext cx="4590952" cy="55744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ru-RU" sz="1600" dirty="0"/>
              <a:t>Вывод: повышение цены на кристаллы понизило среднее количество кристаллов в одной покупке, но благоприятно сказалось на выручку</a:t>
            </a:r>
          </a:p>
          <a:p>
            <a:pPr algn="just">
              <a:lnSpc>
                <a:spcPct val="110000"/>
              </a:lnSpc>
            </a:pPr>
            <a:endParaRPr lang="ru-RU" sz="1600" dirty="0"/>
          </a:p>
          <a:p>
            <a:endParaRPr lang="ru-RU" dirty="0"/>
          </a:p>
          <a:p>
            <a:pPr marL="0" indent="0">
              <a:buFont typeface="Wingdings 3" charset="2"/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034279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2C6CD75-24D3-F8C1-2CD5-E609F0F6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Финансовые показатели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xmlns="" id="{2738871F-8B6B-CF66-852A-32BD62A88E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712362117"/>
              </p:ext>
            </p:extLst>
          </p:nvPr>
        </p:nvGraphicFramePr>
        <p:xfrm>
          <a:off x="494983" y="1378268"/>
          <a:ext cx="8596312" cy="3881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Объект 2">
            <a:extLst>
              <a:ext uri="{FF2B5EF4-FFF2-40B4-BE49-F238E27FC236}">
                <a16:creationId xmlns:a16="http://schemas.microsoft.com/office/drawing/2014/main" xmlns="" id="{F8E5BA1A-7BAE-07FE-529E-24DB3A2BA017}"/>
              </a:ext>
            </a:extLst>
          </p:cNvPr>
          <p:cNvSpPr txBox="1">
            <a:spLocks/>
          </p:cNvSpPr>
          <p:nvPr/>
        </p:nvSpPr>
        <p:spPr>
          <a:xfrm>
            <a:off x="677334" y="5479732"/>
            <a:ext cx="8964506" cy="10226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ru-RU" sz="1300" dirty="0"/>
              <a:t>Вывод: Когорты, начиная с января 2023 года, демонстрируют кратный рост средней выручки на игрока в первый месяц по сравнению с когортами 2022 года (с ~100–150 ₽ до 1 087 ₽ в марте).</a:t>
            </a:r>
          </a:p>
          <a:p>
            <a:pPr algn="just">
              <a:lnSpc>
                <a:spcPct val="110000"/>
              </a:lnSpc>
            </a:pPr>
            <a:r>
              <a:rPr lang="ru-RU" sz="1300" dirty="0"/>
              <a:t>Это означает, что новые привлечённые пользователи стали изначально значительно платёжеспособнее или монетизируются гораздо эффективнее с первого месяца.</a:t>
            </a:r>
          </a:p>
          <a:p>
            <a:endParaRPr lang="ru-RU" dirty="0"/>
          </a:p>
          <a:p>
            <a:pPr marL="0" indent="0">
              <a:buFont typeface="Wingdings 3" charset="2"/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023861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096AB54-A8F5-E62E-16CE-A288A9E4F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Вирусность игры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xmlns="" id="{ADEEF43D-68FD-F645-6191-DD8CC9479036}"/>
              </a:ext>
            </a:extLst>
          </p:cNvPr>
          <p:cNvSpPr txBox="1">
            <a:spLocks/>
          </p:cNvSpPr>
          <p:nvPr/>
        </p:nvSpPr>
        <p:spPr>
          <a:xfrm>
            <a:off x="660400" y="4053840"/>
            <a:ext cx="8405706" cy="20863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err="1"/>
              <a:t>K-factor</a:t>
            </a:r>
            <a:r>
              <a:rPr lang="ru-RU" dirty="0"/>
              <a:t> =  количество регистраций / количество уникальных пользователей всего</a:t>
            </a:r>
          </a:p>
          <a:p>
            <a:pPr algn="just"/>
            <a:r>
              <a:rPr lang="ru-RU" dirty="0"/>
              <a:t>Вывод: K-</a:t>
            </a:r>
            <a:r>
              <a:rPr lang="ru-RU" dirty="0" err="1"/>
              <a:t>factor</a:t>
            </a:r>
            <a:r>
              <a:rPr lang="ru-RU" dirty="0"/>
              <a:t> = 0,92 — это очень высокий показатель вирусности.</a:t>
            </a:r>
          </a:p>
          <a:p>
            <a:pPr algn="just"/>
            <a:r>
              <a:rPr lang="ru-RU" dirty="0"/>
              <a:t>Благодаря вирусности каждая когорта из 342 новых игроков вырастает еще на   315 человек, что дает итоговый прирост ~657 пользователей.</a:t>
            </a:r>
          </a:p>
          <a:p>
            <a:pPr marL="0" indent="0">
              <a:buFont typeface="Wingdings 3" charset="2"/>
              <a:buNone/>
            </a:pPr>
            <a:r>
              <a:rPr lang="ru-RU" dirty="0"/>
              <a:t> </a:t>
            </a:r>
          </a:p>
          <a:p>
            <a:endParaRPr lang="ru-RU" dirty="0"/>
          </a:p>
          <a:p>
            <a:endParaRPr lang="ru-RU" dirty="0"/>
          </a:p>
          <a:p>
            <a:pPr marL="0" indent="0">
              <a:buFont typeface="Wingdings 3" charset="2"/>
              <a:buNone/>
            </a:pPr>
            <a:endParaRPr lang="ru-RU" dirty="0"/>
          </a:p>
          <a:p>
            <a:endParaRPr lang="ru-RU" dirty="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xmlns="" id="{D1729106-B977-5129-3B65-AE1B25D40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097836090"/>
              </p:ext>
            </p:extLst>
          </p:nvPr>
        </p:nvGraphicFramePr>
        <p:xfrm>
          <a:off x="660400" y="1715346"/>
          <a:ext cx="9129440" cy="1882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0864">
                  <a:extLst>
                    <a:ext uri="{9D8B030D-6E8A-4147-A177-3AD203B41FA5}">
                      <a16:colId xmlns:a16="http://schemas.microsoft.com/office/drawing/2014/main" xmlns="" val="2883633407"/>
                    </a:ext>
                  </a:extLst>
                </a:gridCol>
                <a:gridCol w="1842144">
                  <a:extLst>
                    <a:ext uri="{9D8B030D-6E8A-4147-A177-3AD203B41FA5}">
                      <a16:colId xmlns:a16="http://schemas.microsoft.com/office/drawing/2014/main" xmlns="" val="4057267748"/>
                    </a:ext>
                  </a:extLst>
                </a:gridCol>
                <a:gridCol w="1842144">
                  <a:extLst>
                    <a:ext uri="{9D8B030D-6E8A-4147-A177-3AD203B41FA5}">
                      <a16:colId xmlns:a16="http://schemas.microsoft.com/office/drawing/2014/main" xmlns="" val="3265540740"/>
                    </a:ext>
                  </a:extLst>
                </a:gridCol>
                <a:gridCol w="1842144">
                  <a:extLst>
                    <a:ext uri="{9D8B030D-6E8A-4147-A177-3AD203B41FA5}">
                      <a16:colId xmlns:a16="http://schemas.microsoft.com/office/drawing/2014/main" xmlns="" val="684936627"/>
                    </a:ext>
                  </a:extLst>
                </a:gridCol>
                <a:gridCol w="1842144">
                  <a:extLst>
                    <a:ext uri="{9D8B030D-6E8A-4147-A177-3AD203B41FA5}">
                      <a16:colId xmlns:a16="http://schemas.microsoft.com/office/drawing/2014/main" xmlns="" val="3485100849"/>
                    </a:ext>
                  </a:extLst>
                </a:gridCol>
              </a:tblGrid>
              <a:tr h="5096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Всего игроков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Регистрации по приглашениям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k_factor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Средний размер когорты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Ожидаемы прирост от вирусности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xmlns="" val="4038253056"/>
                  </a:ext>
                </a:extLst>
              </a:tr>
              <a:tr h="105240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3 078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2 834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0,92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314,89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4197657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161906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85B2B34-4143-26B0-18BB-7B276B619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Эффективность нового канала привлечения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xmlns="" id="{4A404767-EBFB-12F4-5A58-ABFF2E96A6A8}"/>
              </a:ext>
            </a:extLst>
          </p:cNvPr>
          <p:cNvSpPr txBox="1">
            <a:spLocks/>
          </p:cNvSpPr>
          <p:nvPr/>
        </p:nvSpPr>
        <p:spPr>
          <a:xfrm>
            <a:off x="583521" y="4477172"/>
            <a:ext cx="8221814" cy="1202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dirty="0"/>
              <a:t>Вывод: Среднее время игровой сессии когорты 11-12.2022 - 217,14 минуты, а всех остальных когорт - 177,07 минуты, что может подтверждает гипотезу о том, что когорта 11-12.2022 более лояльная </a:t>
            </a:r>
          </a:p>
          <a:p>
            <a:endParaRPr lang="ru-RU" dirty="0"/>
          </a:p>
          <a:p>
            <a:endParaRPr lang="ru-RU" dirty="0"/>
          </a:p>
          <a:p>
            <a:pPr marL="0" indent="0">
              <a:buFont typeface="Wingdings 3" charset="2"/>
              <a:buNone/>
            </a:pPr>
            <a:endParaRPr lang="ru-RU" dirty="0"/>
          </a:p>
          <a:p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xmlns="" id="{68FBAA2D-F3ED-D004-F51A-F70CCD927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97329636"/>
              </p:ext>
            </p:extLst>
          </p:nvPr>
        </p:nvGraphicFramePr>
        <p:xfrm>
          <a:off x="677334" y="2243666"/>
          <a:ext cx="8128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xmlns="" val="261448860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xmlns="" val="355971317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lang="ru-RU" dirty="0"/>
                        <a:t>Когорты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Среднее кол-во минут на игровую сессию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7754877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остальные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177.07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42823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11.2-22-12.2022</a:t>
                      </a:r>
                    </a:p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217.14</a:t>
                      </a:r>
                    </a:p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0629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787462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9F93B06-9095-9E27-001E-B54D9997F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Лояльные пользователи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xmlns="" id="{C943F692-1811-B986-1CFF-C742A454EF12}"/>
              </a:ext>
            </a:extLst>
          </p:cNvPr>
          <p:cNvSpPr txBox="1">
            <a:spLocks/>
          </p:cNvSpPr>
          <p:nvPr/>
        </p:nvSpPr>
        <p:spPr>
          <a:xfrm>
            <a:off x="6267657" y="1711354"/>
            <a:ext cx="3500799" cy="39679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i="1" dirty="0"/>
              <a:t>Лояльный пользователь — тот, кто </a:t>
            </a:r>
            <a:r>
              <a:rPr lang="ru-RU" dirty="0"/>
              <a:t>либо потратили ≥ 1000₽, либо пригласили ≥ 3 друзей (с хотя бы одной регистрацией), либо сделали и то и другое</a:t>
            </a:r>
            <a:r>
              <a:rPr lang="ru-RU" sz="1900" dirty="0"/>
              <a:t/>
            </a:r>
            <a:br>
              <a:rPr lang="ru-RU" sz="1900" dirty="0"/>
            </a:br>
            <a:endParaRPr lang="ru-RU" sz="1900" dirty="0"/>
          </a:p>
          <a:p>
            <a:r>
              <a:rPr lang="ru-RU" sz="1900" dirty="0"/>
              <a:t>Вывод: Наблюдается устойчивый рост лояльной аудитории с июля 2022 по март 2023 — количество увеличилось с 96 до 686 человек (более чем в 7 раз).</a:t>
            </a:r>
          </a:p>
          <a:p>
            <a:r>
              <a:rPr lang="ru-RU" sz="1900" dirty="0"/>
              <a:t>Март 2023 показал аномальный скачок (+110% к февралю) — возможно, результат маркетинговой акции</a:t>
            </a:r>
          </a:p>
          <a:p>
            <a:endParaRPr lang="ru-RU" dirty="0"/>
          </a:p>
          <a:p>
            <a:endParaRPr lang="ru-RU" dirty="0"/>
          </a:p>
          <a:p>
            <a:pPr marL="0" indent="0">
              <a:buFont typeface="Wingdings 3" charset="2"/>
              <a:buNone/>
            </a:pPr>
            <a:endParaRPr lang="ru-RU" dirty="0"/>
          </a:p>
          <a:p>
            <a:endParaRPr lang="ru-RU" dirty="0"/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xmlns="" id="{BDF2015D-D271-A14A-7E35-8E7B43961E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3418900475"/>
              </p:ext>
            </p:extLst>
          </p:nvPr>
        </p:nvGraphicFramePr>
        <p:xfrm>
          <a:off x="182880" y="1270000"/>
          <a:ext cx="6258560" cy="47269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xmlns="" val="3374562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728C87C-F921-77C5-A019-EE41B785B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Общие 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9655DD4-C221-B851-D227-BDF213170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2394633"/>
          </a:xfrm>
        </p:spPr>
        <p:txBody>
          <a:bodyPr/>
          <a:lstStyle/>
          <a:p>
            <a:r>
              <a:rPr lang="ru-RU" dirty="0"/>
              <a:t>Усилить реферальную программу (K-</a:t>
            </a:r>
            <a:r>
              <a:rPr lang="ru-RU" dirty="0" err="1"/>
              <a:t>factor</a:t>
            </a:r>
            <a:r>
              <a:rPr lang="ru-RU" dirty="0"/>
              <a:t> почти 1)</a:t>
            </a:r>
          </a:p>
          <a:p>
            <a:endParaRPr lang="ru-RU" dirty="0"/>
          </a:p>
          <a:p>
            <a:r>
              <a:rPr lang="ru-RU" dirty="0"/>
              <a:t>Разобраться с багами на </a:t>
            </a:r>
            <a:r>
              <a:rPr lang="ru-RU" dirty="0" err="1"/>
              <a:t>iOS</a:t>
            </a:r>
            <a:r>
              <a:rPr lang="ru-RU" dirty="0"/>
              <a:t> (почти 19% проблемных сессий)</a:t>
            </a:r>
          </a:p>
          <a:p>
            <a:endParaRPr lang="ru-RU" dirty="0"/>
          </a:p>
          <a:p>
            <a:r>
              <a:rPr lang="ru-RU" dirty="0"/>
              <a:t>Масштабировать канал ноября-декабря 2022</a:t>
            </a:r>
          </a:p>
        </p:txBody>
      </p:sp>
    </p:spTree>
    <p:extLst>
      <p:ext uri="{BB962C8B-B14F-4D97-AF65-F5344CB8AC3E}">
        <p14:creationId xmlns:p14="http://schemas.microsoft.com/office/powerpoint/2010/main" xmlns="" val="176756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12DA325-B83D-13A7-70AC-82C879237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414" y="2768600"/>
            <a:ext cx="8596668" cy="1320800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xmlns="" val="2740199714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1775</TotalTime>
  <Words>558</Words>
  <Application>Microsoft Office PowerPoint</Application>
  <PresentationFormat>Произвольный</PresentationFormat>
  <Paragraphs>114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Аспект</vt:lpstr>
      <vt:lpstr>Курсовая работа по модулю SQL: анализ игры Zombie Revolution</vt:lpstr>
      <vt:lpstr>Общие показатели игры</vt:lpstr>
      <vt:lpstr>Общие показатели игры</vt:lpstr>
      <vt:lpstr>Технические проблемы</vt:lpstr>
      <vt:lpstr>Результаты маркетинговой акции</vt:lpstr>
      <vt:lpstr>Финансовые показатели</vt:lpstr>
      <vt:lpstr>Финансовые показатели</vt:lpstr>
      <vt:lpstr>Вирусность игры</vt:lpstr>
      <vt:lpstr>Эффективность нового канала привлечения</vt:lpstr>
      <vt:lpstr>Лояльные пользователи</vt:lpstr>
      <vt:lpstr>Общие выводы</vt:lpstr>
      <vt:lpstr>Спасибо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 по модулю SQL: анализ игры Zombie Revolution</dc:title>
  <dc:creator>Анастасия Бусырева</dc:creator>
  <cp:lastModifiedBy>PcMx</cp:lastModifiedBy>
  <cp:revision>10</cp:revision>
  <dcterms:created xsi:type="dcterms:W3CDTF">2026-04-21T13:06:24Z</dcterms:created>
  <dcterms:modified xsi:type="dcterms:W3CDTF">2026-04-27T14:52:06Z</dcterms:modified>
</cp:coreProperties>
</file>
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1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2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3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4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71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User\Downloads\20%2023_22_0168f6c419cac639.60292881transaction_list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User\Downloads\20%2023_22_0168f6c419cac639.60292881transaction_list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Users\User\Downloads\20%2023_22_0168f6c419cac639.60292881transaction_list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User\Downloads\20%2023_22_0168f6c419cac639.60292881transaction_list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User\Downloads\20%2023_22_0168f6c419cac639.60292881transaction_list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User\Downloads\20%2023_22_0168f6c419cac639.60292881transaction_list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Users\User\Downloads\20%2023_22_0168f6c419cac639.60292881transaction_list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C:\Users\User\Downloads\20%2023_22_0168f6c419cac639.60292881transaction_list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C:\Users\User\Downloads\20%2023_22_0168f6c419cac639.60292881transaction_list%20(1)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C:\Users\User\Downloads\20%2023_22_0168f6c419cac639.60292881transaction_list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file:///C:\Users\User\Downloads\10%2018_38_31691231278c15d1.31351032transaction_list2%20(1)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file:///C:\Users\User\Downloads\10%2018_38_31691231278c15d1.31351032transaction_list2%20(1)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oleObject" Target="file:///C:\Users\User\Downloads\10%2018_38_31691231278c15d1.31351032transaction_list2%20(1)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file:///C:\Users\User\Downloads\10%2018_38_31691231278c15d1.31351032transaction_list2%20(1)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oleObject" Target="file:///C:\Users\User\Downloads\10%2018_38_31691231278c15d1.31351032transaction_list2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 23_22_0168f6c419cac639.60292881transaction_list.xlsx]Анализ роста транзакций!Сводная таблица10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Количество</a:t>
            </a:r>
            <a:r>
              <a:rPr lang="ru-RU" baseline="0"/>
              <a:t> транзакций в динамике по ТТ №2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'Анализ роста транзакций'!$B$3:$B$4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'Анализ роста транзакций'!$A$5:$A$9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роста транзакций'!$B$5:$B$9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B-45AB-AAF5-FE7139FB16CD}"/>
            </c:ext>
          </c:extLst>
        </c:ser>
        <c:ser>
          <c:idx val="1"/>
          <c:order val="1"/>
          <c:tx>
            <c:strRef>
              <c:f>'Анализ роста транзакций'!$C$3:$C$4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'Анализ роста транзакций'!$A$5:$A$9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роста транзакций'!$C$5:$C$9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1B-45AB-AAF5-FE7139FB16CD}"/>
            </c:ext>
          </c:extLst>
        </c:ser>
        <c:ser>
          <c:idx val="2"/>
          <c:order val="2"/>
          <c:tx>
            <c:strRef>
              <c:f>'Анализ роста транзакций'!$D$3:$D$4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'Анализ роста транзакций'!$A$5:$A$9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роста транзакций'!$D$5:$D$9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1B-45AB-AAF5-FE7139FB16CD}"/>
            </c:ext>
          </c:extLst>
        </c:ser>
        <c:ser>
          <c:idx val="3"/>
          <c:order val="3"/>
          <c:tx>
            <c:strRef>
              <c:f>'Анализ роста транзакций'!$E$3:$E$4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'Анализ роста транзакций'!$A$5:$A$9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роста транзакций'!$E$5:$E$9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11B-45AB-AAF5-FE7139FB16CD}"/>
            </c:ext>
          </c:extLst>
        </c:ser>
        <c:ser>
          <c:idx val="4"/>
          <c:order val="4"/>
          <c:tx>
            <c:strRef>
              <c:f>'Анализ роста транзакций'!$F$3:$F$4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'Анализ роста транзакций'!$A$5:$A$9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роста транзакций'!$F$5:$F$9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1B-45AB-AAF5-FE7139FB16CD}"/>
            </c:ext>
          </c:extLst>
        </c:ser>
        <c:ser>
          <c:idx val="5"/>
          <c:order val="5"/>
          <c:tx>
            <c:strRef>
              <c:f>'Анализ роста транзакций'!$G$3:$G$4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'Анализ роста транзакций'!$A$5:$A$9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роста транзакций'!$G$5:$G$9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11B-45AB-AAF5-FE7139FB16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47934032"/>
        <c:axId val="1847926832"/>
      </c:barChart>
      <c:catAx>
        <c:axId val="18479340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дни</a:t>
                </a:r>
                <a:r>
                  <a:rPr lang="ru-RU" baseline="0"/>
                  <a:t> транзакции(сентябрь)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47926832"/>
        <c:crosses val="autoZero"/>
        <c:auto val="1"/>
        <c:lblAlgn val="ctr"/>
        <c:lblOffset val="100"/>
        <c:noMultiLvlLbl val="0"/>
      </c:catAx>
      <c:valAx>
        <c:axId val="1847926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трензакций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47934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 23_22_0168f6c419cac639.60292881transaction_list.xlsx]Анализ нагрузки на сервера!Сводная таблица11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</a:t>
            </a:r>
            <a:r>
              <a:rPr lang="ru-RU" baseline="0"/>
              <a:t> загрузки серверов 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'Анализ нагрузки на сервера'!$B$3:$B$4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'Анализ нагрузки на сервера'!$A$5:$A$9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нагрузки на сервера'!$B$5:$B$9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1306</c:v>
                </c:pt>
                <c:pt idx="3">
                  <c:v>1329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54-4A76-A9F0-55AA4FEA97A5}"/>
            </c:ext>
          </c:extLst>
        </c:ser>
        <c:ser>
          <c:idx val="1"/>
          <c:order val="1"/>
          <c:tx>
            <c:strRef>
              <c:f>'Анализ нагрузки на сервера'!$C$3:$C$4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'Анализ нагрузки на сервера'!$A$5:$A$9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нагрузки на сервера'!$C$5:$C$9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54-4A76-A9F0-55AA4FEA97A5}"/>
            </c:ext>
          </c:extLst>
        </c:ser>
        <c:ser>
          <c:idx val="2"/>
          <c:order val="2"/>
          <c:tx>
            <c:strRef>
              <c:f>'Анализ нагрузки на сервера'!$D$3:$D$4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'Анализ нагрузки на сервера'!$A$5:$A$9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нагрузки на сервера'!$D$5:$D$9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3211</c:v>
                </c:pt>
                <c:pt idx="3">
                  <c:v>4498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054-4A76-A9F0-55AA4FEA97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55306095"/>
        <c:axId val="1555306575"/>
      </c:lineChart>
      <c:catAx>
        <c:axId val="15553060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день транзакции (сентябрь)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55306575"/>
        <c:crosses val="autoZero"/>
        <c:auto val="1"/>
        <c:lblAlgn val="ctr"/>
        <c:lblOffset val="100"/>
        <c:noMultiLvlLbl val="0"/>
      </c:catAx>
      <c:valAx>
        <c:axId val="1555306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55306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 23_22_0168f6c419cac639.60292881transaction_list.xlsx]Анализ нагрузки на сервера!Сводная таблица12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</a:t>
            </a:r>
            <a:r>
              <a:rPr lang="ru-RU" baseline="0"/>
              <a:t> загрузки серверов после перераспределения нагрузки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'Анализ нагрузки на сервера'!$B$43:$B$44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'Анализ нагрузки на сервера'!$A$45:$A$49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нагрузки на сервера'!$B$45:$B$49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2694</c:v>
                </c:pt>
                <c:pt idx="3">
                  <c:v>2655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74-490F-ACCB-186EB120D702}"/>
            </c:ext>
          </c:extLst>
        </c:ser>
        <c:ser>
          <c:idx val="1"/>
          <c:order val="1"/>
          <c:tx>
            <c:strRef>
              <c:f>'Анализ нагрузки на сервера'!$C$43:$C$44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'Анализ нагрузки на сервера'!$A$45:$A$49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нагрузки на сервера'!$C$45:$C$49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74-490F-ACCB-186EB120D702}"/>
            </c:ext>
          </c:extLst>
        </c:ser>
        <c:ser>
          <c:idx val="2"/>
          <c:order val="2"/>
          <c:tx>
            <c:strRef>
              <c:f>'Анализ нагрузки на сервера'!$D$43:$D$44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'Анализ нагрузки на сервера'!$A$45:$A$49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нагрузки на сервера'!$D$45:$D$49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1823</c:v>
                </c:pt>
                <c:pt idx="3">
                  <c:v>3172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C74-490F-ACCB-186EB120D7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60602927"/>
        <c:axId val="960602447"/>
      </c:lineChart>
      <c:catAx>
        <c:axId val="9606029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дни транзакции</a:t>
                </a:r>
                <a:r>
                  <a:rPr lang="ru-RU" baseline="0"/>
                  <a:t> (сентябрь)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60602447"/>
        <c:crosses val="autoZero"/>
        <c:auto val="1"/>
        <c:lblAlgn val="ctr"/>
        <c:lblOffset val="100"/>
        <c:noMultiLvlLbl val="0"/>
      </c:catAx>
      <c:valAx>
        <c:axId val="960602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 </a:t>
                </a:r>
              </a:p>
            </c:rich>
          </c:tx>
          <c:layout>
            <c:manualLayout>
              <c:xMode val="edge"/>
              <c:yMode val="edge"/>
              <c:x val="3.2163742690058478E-2"/>
              <c:y val="0.259071886847477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60602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 23_22_0168f6c419cac639.60292881transaction_list.xlsx]Анализ касс самообслуживания!Сводная таблица14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Доля транзакций по способу оплаты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'Анализ касс самообслуживания'!$B$3:$B$4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'Анализ касс самообслуживания'!$A$5:$A$11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'Анализ касс самообслуживания'!$B$5:$B$11</c:f>
              <c:numCache>
                <c:formatCode>General</c:formatCode>
                <c:ptCount val="6"/>
                <c:pt idx="0">
                  <c:v>9456</c:v>
                </c:pt>
                <c:pt idx="1">
                  <c:v>4868</c:v>
                </c:pt>
                <c:pt idx="2">
                  <c:v>5604</c:v>
                </c:pt>
                <c:pt idx="3">
                  <c:v>455</c:v>
                </c:pt>
                <c:pt idx="4">
                  <c:v>1255</c:v>
                </c:pt>
                <c:pt idx="5">
                  <c:v>3112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CB-4E35-8F02-3861E13FCD3E}"/>
            </c:ext>
          </c:extLst>
        </c:ser>
        <c:ser>
          <c:idx val="1"/>
          <c:order val="1"/>
          <c:tx>
            <c:strRef>
              <c:f>'Анализ касс самообслуживания'!$C$3:$C$4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'Анализ касс самообслуживания'!$A$5:$A$11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'Анализ касс самообслуживания'!$C$5:$C$11</c:f>
              <c:numCache>
                <c:formatCode>General</c:formatCode>
                <c:ptCount val="6"/>
                <c:pt idx="0">
                  <c:v>1387</c:v>
                </c:pt>
                <c:pt idx="1">
                  <c:v>1761</c:v>
                </c:pt>
                <c:pt idx="3">
                  <c:v>1830</c:v>
                </c:pt>
                <c:pt idx="4">
                  <c:v>3740</c:v>
                </c:pt>
                <c:pt idx="5">
                  <c:v>1192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CB-4E35-8F02-3861E13FCD3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61137231"/>
        <c:axId val="961137711"/>
      </c:barChart>
      <c:catAx>
        <c:axId val="961137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61137711"/>
        <c:crosses val="autoZero"/>
        <c:auto val="1"/>
        <c:lblAlgn val="ctr"/>
        <c:lblOffset val="100"/>
        <c:noMultiLvlLbl val="0"/>
      </c:catAx>
      <c:valAx>
        <c:axId val="961137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61137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 23_22_0168f6c419cac639.60292881transaction_list.xlsx]Анализ касс самообслуживания!Сводная таблица15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Доля касс самообслуживания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'Анализ касс самообслуживания'!$B$26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'Анализ касс самообслуживания'!$A$27:$A$31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касс самообслуживания'!$B$27:$B$31</c:f>
              <c:numCache>
                <c:formatCode>0.00%;\-0.00%;0.00%</c:formatCode>
                <c:ptCount val="4"/>
                <c:pt idx="0">
                  <c:v>0.23085743406803413</c:v>
                </c:pt>
                <c:pt idx="1">
                  <c:v>0.22876557191392979</c:v>
                </c:pt>
                <c:pt idx="2">
                  <c:v>0.30071680509728071</c:v>
                </c:pt>
                <c:pt idx="3">
                  <c:v>0.36099255583126549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6C-45AA-A7D8-63B5627C90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5170479"/>
        <c:axId val="1485170959"/>
      </c:lineChart>
      <c:catAx>
        <c:axId val="14851704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дни транзакций</a:t>
                </a:r>
                <a:r>
                  <a:rPr lang="ru-RU" baseline="0"/>
                  <a:t> (сентябрь)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5170959"/>
        <c:crosses val="autoZero"/>
        <c:auto val="1"/>
        <c:lblAlgn val="ctr"/>
        <c:lblOffset val="100"/>
        <c:noMultiLvlLbl val="0"/>
      </c:catAx>
      <c:valAx>
        <c:axId val="1485170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 КСО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;\-0.00%;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5170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 23_22_0168f6c419cac639.60292881transaction_list.xlsx]Анализ касс самообслуживания!Сводная таблица17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</a:t>
            </a:r>
            <a:r>
              <a:rPr lang="ru-RU" baseline="0"/>
              <a:t> среднего времени (в секундах) обработки транзакции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'Анализ касс самообслуживания'!$B$60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'Анализ касс самообслуживания'!$A$61:$A$65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'Анализ касс самообслуживания'!$B$61:$B$65</c:f>
              <c:numCache>
                <c:formatCode>0</c:formatCode>
                <c:ptCount val="4"/>
                <c:pt idx="0">
                  <c:v>124.70721337497949</c:v>
                </c:pt>
                <c:pt idx="1">
                  <c:v>80.103562879249552</c:v>
                </c:pt>
                <c:pt idx="2">
                  <c:v>85.846029801290712</c:v>
                </c:pt>
                <c:pt idx="3">
                  <c:v>90.399762174202408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B0-4393-B484-2A7BA7CA9F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89225648"/>
        <c:axId val="1889228048"/>
      </c:lineChart>
      <c:catAx>
        <c:axId val="18892256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дни транзакций (сентябрь)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9228048"/>
        <c:crosses val="autoZero"/>
        <c:auto val="1"/>
        <c:lblAlgn val="ctr"/>
        <c:lblOffset val="100"/>
        <c:noMultiLvlLbl val="0"/>
      </c:catAx>
      <c:valAx>
        <c:axId val="1889228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секунд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89225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 23_22_0168f6c419cac639.60292881transaction_list.xlsx]Анализ 1 сентября !Сводная таблица19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</a:rPr>
              <a:t>Динамика среднего времени обработки транзакции по серверам 1 сентября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'Анализ 1 сентября '!$B$3:$B$4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'!$B$5:$B$29</c:f>
              <c:numCache>
                <c:formatCode>0</c:formatCode>
                <c:ptCount val="24"/>
                <c:pt idx="0">
                  <c:v>174.11329910948712</c:v>
                </c:pt>
                <c:pt idx="1">
                  <c:v>163.332031625323</c:v>
                </c:pt>
                <c:pt idx="2">
                  <c:v>158.88629693974508</c:v>
                </c:pt>
                <c:pt idx="3">
                  <c:v>229.57233228720725</c:v>
                </c:pt>
                <c:pt idx="4">
                  <c:v>204.44544293638319</c:v>
                </c:pt>
                <c:pt idx="5">
                  <c:v>255.24490202361767</c:v>
                </c:pt>
                <c:pt idx="6">
                  <c:v>218.92225941410288</c:v>
                </c:pt>
                <c:pt idx="7">
                  <c:v>168.05249165442973</c:v>
                </c:pt>
                <c:pt idx="8">
                  <c:v>182.65385282167699</c:v>
                </c:pt>
                <c:pt idx="9">
                  <c:v>175.5822123830622</c:v>
                </c:pt>
                <c:pt idx="10">
                  <c:v>184.1288500232622</c:v>
                </c:pt>
                <c:pt idx="11">
                  <c:v>176.33044847725824</c:v>
                </c:pt>
                <c:pt idx="12">
                  <c:v>167.97717689138176</c:v>
                </c:pt>
                <c:pt idx="13">
                  <c:v>188.69799410281502</c:v>
                </c:pt>
                <c:pt idx="14">
                  <c:v>172.17041899304604</c:v>
                </c:pt>
                <c:pt idx="15">
                  <c:v>181.28263763937866</c:v>
                </c:pt>
                <c:pt idx="16">
                  <c:v>180.51906757451513</c:v>
                </c:pt>
                <c:pt idx="17">
                  <c:v>174.06222983738598</c:v>
                </c:pt>
                <c:pt idx="18">
                  <c:v>179.90113990012239</c:v>
                </c:pt>
                <c:pt idx="19">
                  <c:v>149.36739846598357</c:v>
                </c:pt>
                <c:pt idx="20">
                  <c:v>187.75519163202262</c:v>
                </c:pt>
                <c:pt idx="21">
                  <c:v>182.21170140237993</c:v>
                </c:pt>
                <c:pt idx="22">
                  <c:v>195.63714303996761</c:v>
                </c:pt>
                <c:pt idx="23">
                  <c:v>192.76051621020932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60-4B9F-A208-7018293C8536}"/>
            </c:ext>
          </c:extLst>
        </c:ser>
        <c:ser>
          <c:idx val="1"/>
          <c:order val="1"/>
          <c:tx>
            <c:strRef>
              <c:f>'Анализ 1 сентября '!$C$3:$C$4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'!$C$5:$C$29</c:f>
              <c:numCache>
                <c:formatCode>0</c:formatCode>
                <c:ptCount val="24"/>
                <c:pt idx="0">
                  <c:v>86.507277672849398</c:v>
                </c:pt>
                <c:pt idx="1">
                  <c:v>88.265350438437309</c:v>
                </c:pt>
                <c:pt idx="2">
                  <c:v>83.669876594917454</c:v>
                </c:pt>
                <c:pt idx="3">
                  <c:v>89.993142603319697</c:v>
                </c:pt>
                <c:pt idx="4">
                  <c:v>87.289175158937923</c:v>
                </c:pt>
                <c:pt idx="5">
                  <c:v>84.794897993013961</c:v>
                </c:pt>
                <c:pt idx="6">
                  <c:v>82.442627421447213</c:v>
                </c:pt>
                <c:pt idx="7">
                  <c:v>87.184424774022773</c:v>
                </c:pt>
                <c:pt idx="8">
                  <c:v>92.712635555468069</c:v>
                </c:pt>
                <c:pt idx="9">
                  <c:v>86.719907649437431</c:v>
                </c:pt>
                <c:pt idx="10">
                  <c:v>81.623381253198858</c:v>
                </c:pt>
                <c:pt idx="11">
                  <c:v>160.37349547664886</c:v>
                </c:pt>
                <c:pt idx="12">
                  <c:v>163.6010618108316</c:v>
                </c:pt>
                <c:pt idx="13">
                  <c:v>162.42156492480248</c:v>
                </c:pt>
                <c:pt idx="14">
                  <c:v>154.95891880287203</c:v>
                </c:pt>
                <c:pt idx="15">
                  <c:v>160.23663775118834</c:v>
                </c:pt>
                <c:pt idx="16">
                  <c:v>83.875950435841716</c:v>
                </c:pt>
                <c:pt idx="17">
                  <c:v>81.199407939276938</c:v>
                </c:pt>
                <c:pt idx="18">
                  <c:v>85.924357140262785</c:v>
                </c:pt>
                <c:pt idx="19">
                  <c:v>98.382577484834101</c:v>
                </c:pt>
                <c:pt idx="20">
                  <c:v>93.898038735185466</c:v>
                </c:pt>
                <c:pt idx="21">
                  <c:v>85.969118771831845</c:v>
                </c:pt>
                <c:pt idx="22">
                  <c:v>79.915881261168678</c:v>
                </c:pt>
                <c:pt idx="23">
                  <c:v>92.20709669441635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60-4B9F-A208-7018293C8536}"/>
            </c:ext>
          </c:extLst>
        </c:ser>
        <c:ser>
          <c:idx val="2"/>
          <c:order val="2"/>
          <c:tx>
            <c:strRef>
              <c:f>'Анализ 1 сентября '!$D$3:$D$4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'!$D$5:$D$29</c:f>
              <c:numCache>
                <c:formatCode>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60-4B9F-A208-7018293C85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6462624"/>
        <c:axId val="1036460704"/>
      </c:lineChart>
      <c:catAx>
        <c:axId val="10364626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6460704"/>
        <c:crosses val="autoZero"/>
        <c:auto val="1"/>
        <c:lblAlgn val="ctr"/>
        <c:lblOffset val="100"/>
        <c:noMultiLvlLbl val="0"/>
      </c:catAx>
      <c:valAx>
        <c:axId val="1036460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8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 секунд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6462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 23_22_0168f6c419cac639.60292881transaction_list.xlsx]Анализ 1 сентября !Сводная таблица21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kern="1200" spc="0" baseline="0">
                <a:solidFill>
                  <a:schemeClr val="dk1"/>
                </a:solidFill>
                <a:effectLst/>
              </a:rPr>
              <a:t>Динамика среднего времени обработки транзакции </a:t>
            </a:r>
          </a:p>
          <a:p>
            <a:pPr>
              <a:defRPr/>
            </a:pPr>
            <a:r>
              <a:rPr lang="ru-RU" sz="1400" b="0" i="0" u="none" strike="noStrike" kern="1200" spc="0" baseline="0">
                <a:solidFill>
                  <a:schemeClr val="dk1"/>
                </a:solidFill>
                <a:effectLst/>
              </a:rPr>
              <a:t>по торговым точкам 1 сентября</a:t>
            </a:r>
            <a:endParaRPr lang="ru-RU" sz="1400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'Анализ 1 сентября '!$B$34:$B$35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'!$B$36:$B$60</c:f>
              <c:numCache>
                <c:formatCode>0</c:formatCode>
                <c:ptCount val="24"/>
                <c:pt idx="0">
                  <c:v>75.395693813505417</c:v>
                </c:pt>
                <c:pt idx="1">
                  <c:v>63.803369537015094</c:v>
                </c:pt>
                <c:pt idx="2">
                  <c:v>64.302538320128065</c:v>
                </c:pt>
                <c:pt idx="3">
                  <c:v>73.825465878638042</c:v>
                </c:pt>
                <c:pt idx="4">
                  <c:v>77.495481276207343</c:v>
                </c:pt>
                <c:pt idx="5">
                  <c:v>70.93505214408809</c:v>
                </c:pt>
                <c:pt idx="6">
                  <c:v>64.32266108400654</c:v>
                </c:pt>
                <c:pt idx="7">
                  <c:v>72.744772363895251</c:v>
                </c:pt>
                <c:pt idx="8">
                  <c:v>75.836212983211652</c:v>
                </c:pt>
                <c:pt idx="9">
                  <c:v>72.093852642124062</c:v>
                </c:pt>
                <c:pt idx="10">
                  <c:v>74.246592381361708</c:v>
                </c:pt>
                <c:pt idx="11">
                  <c:v>166.0814692533867</c:v>
                </c:pt>
                <c:pt idx="12">
                  <c:v>169.63459274265915</c:v>
                </c:pt>
                <c:pt idx="13">
                  <c:v>161.19862416597579</c:v>
                </c:pt>
                <c:pt idx="14">
                  <c:v>156.1355107259827</c:v>
                </c:pt>
                <c:pt idx="15">
                  <c:v>159.06993045640939</c:v>
                </c:pt>
                <c:pt idx="16">
                  <c:v>68.654513563466281</c:v>
                </c:pt>
                <c:pt idx="17">
                  <c:v>69.996400116551143</c:v>
                </c:pt>
                <c:pt idx="18">
                  <c:v>78.990293901342042</c:v>
                </c:pt>
                <c:pt idx="19">
                  <c:v>82.032843651885003</c:v>
                </c:pt>
                <c:pt idx="20">
                  <c:v>84.799599664677913</c:v>
                </c:pt>
                <c:pt idx="21">
                  <c:v>74.605752171303791</c:v>
                </c:pt>
                <c:pt idx="22">
                  <c:v>65.935049111604556</c:v>
                </c:pt>
                <c:pt idx="23">
                  <c:v>78.353372954434775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F8-4D09-89D9-B57C9BF89A58}"/>
            </c:ext>
          </c:extLst>
        </c:ser>
        <c:ser>
          <c:idx val="1"/>
          <c:order val="1"/>
          <c:tx>
            <c:strRef>
              <c:f>'Анализ 1 сентября '!$C$34:$C$35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'!$C$36:$C$60</c:f>
              <c:numCache>
                <c:formatCode>0</c:formatCode>
                <c:ptCount val="24"/>
                <c:pt idx="0">
                  <c:v>107.49582496272134</c:v>
                </c:pt>
                <c:pt idx="1">
                  <c:v>124.21704964204268</c:v>
                </c:pt>
                <c:pt idx="2">
                  <c:v>115.94877371956643</c:v>
                </c:pt>
                <c:pt idx="3">
                  <c:v>117.15483950078487</c:v>
                </c:pt>
                <c:pt idx="4">
                  <c:v>107.61570963252969</c:v>
                </c:pt>
                <c:pt idx="5">
                  <c:v>107.16517550356097</c:v>
                </c:pt>
                <c:pt idx="6">
                  <c:v>113.95561235612664</c:v>
                </c:pt>
                <c:pt idx="7">
                  <c:v>112.12564257333393</c:v>
                </c:pt>
                <c:pt idx="8">
                  <c:v>120.5230783858061</c:v>
                </c:pt>
                <c:pt idx="9">
                  <c:v>109.85963646697797</c:v>
                </c:pt>
                <c:pt idx="10">
                  <c:v>97.629621258128509</c:v>
                </c:pt>
                <c:pt idx="11">
                  <c:v>151.87495674239472</c:v>
                </c:pt>
                <c:pt idx="12">
                  <c:v>155.7312388562739</c:v>
                </c:pt>
                <c:pt idx="13">
                  <c:v>164.51194040791327</c:v>
                </c:pt>
                <c:pt idx="14">
                  <c:v>152.39455179096416</c:v>
                </c:pt>
                <c:pt idx="15">
                  <c:v>162.37560112494975</c:v>
                </c:pt>
                <c:pt idx="16">
                  <c:v>108.80381082103628</c:v>
                </c:pt>
                <c:pt idx="17">
                  <c:v>99.361860015514225</c:v>
                </c:pt>
                <c:pt idx="18">
                  <c:v>98.405670970320131</c:v>
                </c:pt>
                <c:pt idx="19">
                  <c:v>122.04666592726043</c:v>
                </c:pt>
                <c:pt idx="20">
                  <c:v>105.12338564035713</c:v>
                </c:pt>
                <c:pt idx="21">
                  <c:v>104.6946665501668</c:v>
                </c:pt>
                <c:pt idx="22">
                  <c:v>96.848222420085222</c:v>
                </c:pt>
                <c:pt idx="23">
                  <c:v>112.39395128696093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F8-4D09-89D9-B57C9BF89A58}"/>
            </c:ext>
          </c:extLst>
        </c:ser>
        <c:ser>
          <c:idx val="2"/>
          <c:order val="2"/>
          <c:tx>
            <c:strRef>
              <c:f>'Анализ 1 сентября '!$D$34:$D$35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'!$D$36:$D$60</c:f>
              <c:numCache>
                <c:formatCode>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F8-4D09-89D9-B57C9BF89A58}"/>
            </c:ext>
          </c:extLst>
        </c:ser>
        <c:ser>
          <c:idx val="3"/>
          <c:order val="3"/>
          <c:tx>
            <c:strRef>
              <c:f>'Анализ 1 сентября '!$E$34:$E$35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'!$E$36:$E$60</c:f>
              <c:numCache>
                <c:formatCode>0</c:formatCode>
                <c:ptCount val="24"/>
                <c:pt idx="0">
                  <c:v>220.62057200819254</c:v>
                </c:pt>
                <c:pt idx="1">
                  <c:v>204.96410390761281</c:v>
                </c:pt>
                <c:pt idx="2">
                  <c:v>221.36091590106773</c:v>
                </c:pt>
                <c:pt idx="3">
                  <c:v>197.45958196165572</c:v>
                </c:pt>
                <c:pt idx="4">
                  <c:v>224.71267680735573</c:v>
                </c:pt>
                <c:pt idx="5">
                  <c:v>195.20977961186034</c:v>
                </c:pt>
                <c:pt idx="6">
                  <c:v>219.13856745609459</c:v>
                </c:pt>
                <c:pt idx="7">
                  <c:v>215.82051226403564</c:v>
                </c:pt>
                <c:pt idx="8">
                  <c:v>227.35399767689938</c:v>
                </c:pt>
                <c:pt idx="9">
                  <c:v>212.47934923241181</c:v>
                </c:pt>
                <c:pt idx="10">
                  <c:v>216.63862868603744</c:v>
                </c:pt>
                <c:pt idx="11">
                  <c:v>228.1377139716642</c:v>
                </c:pt>
                <c:pt idx="12">
                  <c:v>212.38955941728571</c:v>
                </c:pt>
                <c:pt idx="13">
                  <c:v>243.28885256778449</c:v>
                </c:pt>
                <c:pt idx="14">
                  <c:v>223.62056859260932</c:v>
                </c:pt>
                <c:pt idx="15">
                  <c:v>226.06843373909288</c:v>
                </c:pt>
                <c:pt idx="16">
                  <c:v>227.82689876330551</c:v>
                </c:pt>
                <c:pt idx="17">
                  <c:v>224.22886722820945</c:v>
                </c:pt>
                <c:pt idx="18">
                  <c:v>206.21106439809265</c:v>
                </c:pt>
                <c:pt idx="19">
                  <c:v>185.70843723602593</c:v>
                </c:pt>
                <c:pt idx="20">
                  <c:v>213.54483874336651</c:v>
                </c:pt>
                <c:pt idx="21">
                  <c:v>240.09581529335784</c:v>
                </c:pt>
                <c:pt idx="22">
                  <c:v>223.10670610517263</c:v>
                </c:pt>
                <c:pt idx="23">
                  <c:v>236.15579103352502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7F8-4D09-89D9-B57C9BF89A58}"/>
            </c:ext>
          </c:extLst>
        </c:ser>
        <c:ser>
          <c:idx val="4"/>
          <c:order val="4"/>
          <c:tx>
            <c:strRef>
              <c:f>'Анализ 1 сентября '!$F$34:$F$35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'!$A$36:$A$60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'!$F$36:$F$60</c:f>
              <c:numCache>
                <c:formatCode>0</c:formatCode>
                <c:ptCount val="24"/>
                <c:pt idx="0">
                  <c:v>144.2157665317479</c:v>
                </c:pt>
                <c:pt idx="1">
                  <c:v>126.90396837831941</c:v>
                </c:pt>
                <c:pt idx="2">
                  <c:v>128.80592484725639</c:v>
                </c:pt>
                <c:pt idx="3">
                  <c:v>257.67098882206483</c:v>
                </c:pt>
                <c:pt idx="4">
                  <c:v>183.63044598781681</c:v>
                </c:pt>
                <c:pt idx="5">
                  <c:v>287.76392666331958</c:v>
                </c:pt>
                <c:pt idx="6">
                  <c:v>218.7712519130898</c:v>
                </c:pt>
                <c:pt idx="7">
                  <c:v>138.80676475058937</c:v>
                </c:pt>
                <c:pt idx="8">
                  <c:v>147.88707348983735</c:v>
                </c:pt>
                <c:pt idx="9">
                  <c:v>148.67805009707808</c:v>
                </c:pt>
                <c:pt idx="10">
                  <c:v>143.25941399005907</c:v>
                </c:pt>
                <c:pt idx="11">
                  <c:v>131.28065239516613</c:v>
                </c:pt>
                <c:pt idx="12">
                  <c:v>138.66500442428514</c:v>
                </c:pt>
                <c:pt idx="13">
                  <c:v>136.430150891674</c:v>
                </c:pt>
                <c:pt idx="14">
                  <c:v>136.04584586994841</c:v>
                </c:pt>
                <c:pt idx="15">
                  <c:v>134.5910629822298</c:v>
                </c:pt>
                <c:pt idx="16">
                  <c:v>155.28822427382693</c:v>
                </c:pt>
                <c:pt idx="17">
                  <c:v>136.43725179426838</c:v>
                </c:pt>
                <c:pt idx="18">
                  <c:v>157.17893237914805</c:v>
                </c:pt>
                <c:pt idx="19">
                  <c:v>127.99031683654688</c:v>
                </c:pt>
                <c:pt idx="20">
                  <c:v>168.69327854972494</c:v>
                </c:pt>
                <c:pt idx="21">
                  <c:v>146.66882445177944</c:v>
                </c:pt>
                <c:pt idx="22">
                  <c:v>165.48762260254745</c:v>
                </c:pt>
                <c:pt idx="23">
                  <c:v>155.28277886280028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7F8-4D09-89D9-B57C9BF89A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060879"/>
        <c:axId val="90062319"/>
      </c:lineChart>
      <c:catAx>
        <c:axId val="900608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062319"/>
        <c:crosses val="autoZero"/>
        <c:auto val="1"/>
        <c:lblAlgn val="ctr"/>
        <c:lblOffset val="100"/>
        <c:noMultiLvlLbl val="0"/>
      </c:catAx>
      <c:valAx>
        <c:axId val="90062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8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 секунд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060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 23_22_0168f6c419cac639.60292881transaction_list (1).xlsx]Анализ 1 сентября !Сводная таблица2</c:name>
    <c:fmtId val="3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количества транзакций по торговым точкам 1 сентября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5330835961084766E-2"/>
          <c:y val="0.21461736784991295"/>
          <c:w val="0.70715120567521828"/>
          <c:h val="0.60567068382177536"/>
        </c:manualLayout>
      </c:layout>
      <c:lineChart>
        <c:grouping val="standard"/>
        <c:varyColors val="0"/>
        <c:ser>
          <c:idx val="0"/>
          <c:order val="0"/>
          <c:tx>
            <c:strRef>
              <c:f>'Анализ 1 сентября '!$K$34:$K$35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'!$J$36:$J$60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'!$K$36:$K$60</c:f>
              <c:numCache>
                <c:formatCode>0</c:formatCode>
                <c:ptCount val="24"/>
                <c:pt idx="0">
                  <c:v>119</c:v>
                </c:pt>
                <c:pt idx="1">
                  <c:v>97</c:v>
                </c:pt>
                <c:pt idx="2">
                  <c:v>95</c:v>
                </c:pt>
                <c:pt idx="3">
                  <c:v>84</c:v>
                </c:pt>
                <c:pt idx="4">
                  <c:v>110</c:v>
                </c:pt>
                <c:pt idx="5">
                  <c:v>92</c:v>
                </c:pt>
                <c:pt idx="6">
                  <c:v>120</c:v>
                </c:pt>
                <c:pt idx="7">
                  <c:v>114</c:v>
                </c:pt>
                <c:pt idx="8">
                  <c:v>117</c:v>
                </c:pt>
                <c:pt idx="9">
                  <c:v>106</c:v>
                </c:pt>
                <c:pt idx="10">
                  <c:v>115</c:v>
                </c:pt>
                <c:pt idx="11">
                  <c:v>134</c:v>
                </c:pt>
                <c:pt idx="12">
                  <c:v>120</c:v>
                </c:pt>
                <c:pt idx="13">
                  <c:v>147</c:v>
                </c:pt>
                <c:pt idx="14">
                  <c:v>170</c:v>
                </c:pt>
                <c:pt idx="15">
                  <c:v>165</c:v>
                </c:pt>
                <c:pt idx="16">
                  <c:v>113</c:v>
                </c:pt>
                <c:pt idx="17">
                  <c:v>107</c:v>
                </c:pt>
                <c:pt idx="18">
                  <c:v>117</c:v>
                </c:pt>
                <c:pt idx="19">
                  <c:v>110</c:v>
                </c:pt>
                <c:pt idx="20">
                  <c:v>95</c:v>
                </c:pt>
                <c:pt idx="21">
                  <c:v>117</c:v>
                </c:pt>
                <c:pt idx="22">
                  <c:v>109</c:v>
                </c:pt>
                <c:pt idx="23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6C-4AEC-B348-1E56021CE5FE}"/>
            </c:ext>
          </c:extLst>
        </c:ser>
        <c:ser>
          <c:idx val="1"/>
          <c:order val="1"/>
          <c:tx>
            <c:strRef>
              <c:f>'Анализ 1 сентября '!$L$34:$L$35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'!$J$36:$J$60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'!$L$36:$L$60</c:f>
              <c:numCache>
                <c:formatCode>0</c:formatCode>
                <c:ptCount val="24"/>
                <c:pt idx="0">
                  <c:v>63</c:v>
                </c:pt>
                <c:pt idx="1">
                  <c:v>66</c:v>
                </c:pt>
                <c:pt idx="2">
                  <c:v>57</c:v>
                </c:pt>
                <c:pt idx="3">
                  <c:v>50</c:v>
                </c:pt>
                <c:pt idx="4">
                  <c:v>53</c:v>
                </c:pt>
                <c:pt idx="5">
                  <c:v>57</c:v>
                </c:pt>
                <c:pt idx="6">
                  <c:v>69</c:v>
                </c:pt>
                <c:pt idx="7">
                  <c:v>66</c:v>
                </c:pt>
                <c:pt idx="8">
                  <c:v>71</c:v>
                </c:pt>
                <c:pt idx="9">
                  <c:v>67</c:v>
                </c:pt>
                <c:pt idx="10">
                  <c:v>53</c:v>
                </c:pt>
                <c:pt idx="11">
                  <c:v>90</c:v>
                </c:pt>
                <c:pt idx="12">
                  <c:v>92</c:v>
                </c:pt>
                <c:pt idx="13">
                  <c:v>86</c:v>
                </c:pt>
                <c:pt idx="14">
                  <c:v>78</c:v>
                </c:pt>
                <c:pt idx="15">
                  <c:v>90</c:v>
                </c:pt>
                <c:pt idx="16">
                  <c:v>69</c:v>
                </c:pt>
                <c:pt idx="17">
                  <c:v>66</c:v>
                </c:pt>
                <c:pt idx="18">
                  <c:v>65</c:v>
                </c:pt>
                <c:pt idx="19">
                  <c:v>76</c:v>
                </c:pt>
                <c:pt idx="20">
                  <c:v>77</c:v>
                </c:pt>
                <c:pt idx="21">
                  <c:v>71</c:v>
                </c:pt>
                <c:pt idx="22">
                  <c:v>90</c:v>
                </c:pt>
                <c:pt idx="2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6C-4AEC-B348-1E56021CE5FE}"/>
            </c:ext>
          </c:extLst>
        </c:ser>
        <c:ser>
          <c:idx val="2"/>
          <c:order val="2"/>
          <c:tx>
            <c:strRef>
              <c:f>'Анализ 1 сентября '!$M$34:$M$35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'!$J$36:$J$60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'!$M$36:$M$60</c:f>
              <c:numCache>
                <c:formatCode>0</c:formatCode>
                <c:ptCount val="24"/>
                <c:pt idx="0">
                  <c:v>49</c:v>
                </c:pt>
                <c:pt idx="1">
                  <c:v>74</c:v>
                </c:pt>
                <c:pt idx="2">
                  <c:v>54</c:v>
                </c:pt>
                <c:pt idx="3">
                  <c:v>49</c:v>
                </c:pt>
                <c:pt idx="4">
                  <c:v>51</c:v>
                </c:pt>
                <c:pt idx="5">
                  <c:v>51</c:v>
                </c:pt>
                <c:pt idx="6">
                  <c:v>53</c:v>
                </c:pt>
                <c:pt idx="7">
                  <c:v>55</c:v>
                </c:pt>
                <c:pt idx="8">
                  <c:v>63</c:v>
                </c:pt>
                <c:pt idx="9">
                  <c:v>57</c:v>
                </c:pt>
                <c:pt idx="10">
                  <c:v>64</c:v>
                </c:pt>
                <c:pt idx="11">
                  <c:v>72</c:v>
                </c:pt>
                <c:pt idx="12">
                  <c:v>60</c:v>
                </c:pt>
                <c:pt idx="13">
                  <c:v>51</c:v>
                </c:pt>
                <c:pt idx="14">
                  <c:v>65</c:v>
                </c:pt>
                <c:pt idx="15">
                  <c:v>62</c:v>
                </c:pt>
                <c:pt idx="16">
                  <c:v>53</c:v>
                </c:pt>
                <c:pt idx="17">
                  <c:v>52</c:v>
                </c:pt>
                <c:pt idx="18">
                  <c:v>58</c:v>
                </c:pt>
                <c:pt idx="19">
                  <c:v>58</c:v>
                </c:pt>
                <c:pt idx="20">
                  <c:v>64</c:v>
                </c:pt>
                <c:pt idx="21">
                  <c:v>61</c:v>
                </c:pt>
                <c:pt idx="22">
                  <c:v>74</c:v>
                </c:pt>
                <c:pt idx="23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56C-4AEC-B348-1E56021CE5FE}"/>
            </c:ext>
          </c:extLst>
        </c:ser>
        <c:ser>
          <c:idx val="3"/>
          <c:order val="3"/>
          <c:tx>
            <c:strRef>
              <c:f>'Анализ 1 сентября '!$N$34:$N$35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'!$J$36:$J$60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'!$N$36:$N$60</c:f>
              <c:numCache>
                <c:formatCode>0</c:formatCode>
                <c:ptCount val="24"/>
                <c:pt idx="0">
                  <c:v>27</c:v>
                </c:pt>
                <c:pt idx="1">
                  <c:v>35</c:v>
                </c:pt>
                <c:pt idx="2">
                  <c:v>26</c:v>
                </c:pt>
                <c:pt idx="3">
                  <c:v>28</c:v>
                </c:pt>
                <c:pt idx="4">
                  <c:v>38</c:v>
                </c:pt>
                <c:pt idx="5">
                  <c:v>26</c:v>
                </c:pt>
                <c:pt idx="6">
                  <c:v>37</c:v>
                </c:pt>
                <c:pt idx="7">
                  <c:v>30</c:v>
                </c:pt>
                <c:pt idx="8">
                  <c:v>35</c:v>
                </c:pt>
                <c:pt idx="9">
                  <c:v>35</c:v>
                </c:pt>
                <c:pt idx="10">
                  <c:v>44</c:v>
                </c:pt>
                <c:pt idx="11">
                  <c:v>40</c:v>
                </c:pt>
                <c:pt idx="12">
                  <c:v>33</c:v>
                </c:pt>
                <c:pt idx="13">
                  <c:v>45</c:v>
                </c:pt>
                <c:pt idx="14">
                  <c:v>33</c:v>
                </c:pt>
                <c:pt idx="15">
                  <c:v>49</c:v>
                </c:pt>
                <c:pt idx="16">
                  <c:v>32</c:v>
                </c:pt>
                <c:pt idx="17">
                  <c:v>42</c:v>
                </c:pt>
                <c:pt idx="18">
                  <c:v>38</c:v>
                </c:pt>
                <c:pt idx="19">
                  <c:v>30</c:v>
                </c:pt>
                <c:pt idx="20">
                  <c:v>34</c:v>
                </c:pt>
                <c:pt idx="21">
                  <c:v>35</c:v>
                </c:pt>
                <c:pt idx="22">
                  <c:v>45</c:v>
                </c:pt>
                <c:pt idx="2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56C-4AEC-B348-1E56021CE5FE}"/>
            </c:ext>
          </c:extLst>
        </c:ser>
        <c:ser>
          <c:idx val="4"/>
          <c:order val="4"/>
          <c:tx>
            <c:strRef>
              <c:f>'Анализ 1 сентября '!$O$34:$O$35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'!$J$36:$J$60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'!$O$36:$O$60</c:f>
              <c:numCache>
                <c:formatCode>0</c:formatCode>
                <c:ptCount val="24"/>
                <c:pt idx="0">
                  <c:v>42</c:v>
                </c:pt>
                <c:pt idx="1">
                  <c:v>40</c:v>
                </c:pt>
                <c:pt idx="2">
                  <c:v>54</c:v>
                </c:pt>
                <c:pt idx="3">
                  <c:v>32</c:v>
                </c:pt>
                <c:pt idx="4">
                  <c:v>37</c:v>
                </c:pt>
                <c:pt idx="5">
                  <c:v>48</c:v>
                </c:pt>
                <c:pt idx="6">
                  <c:v>53</c:v>
                </c:pt>
                <c:pt idx="7">
                  <c:v>49</c:v>
                </c:pt>
                <c:pt idx="8">
                  <c:v>45</c:v>
                </c:pt>
                <c:pt idx="9">
                  <c:v>48</c:v>
                </c:pt>
                <c:pt idx="10">
                  <c:v>35</c:v>
                </c:pt>
                <c:pt idx="11">
                  <c:v>46</c:v>
                </c:pt>
                <c:pt idx="12">
                  <c:v>50</c:v>
                </c:pt>
                <c:pt idx="13">
                  <c:v>47</c:v>
                </c:pt>
                <c:pt idx="14">
                  <c:v>47</c:v>
                </c:pt>
                <c:pt idx="15">
                  <c:v>47</c:v>
                </c:pt>
                <c:pt idx="16">
                  <c:v>60</c:v>
                </c:pt>
                <c:pt idx="17">
                  <c:v>56</c:v>
                </c:pt>
                <c:pt idx="18">
                  <c:v>44</c:v>
                </c:pt>
                <c:pt idx="19">
                  <c:v>51</c:v>
                </c:pt>
                <c:pt idx="20">
                  <c:v>46</c:v>
                </c:pt>
                <c:pt idx="21">
                  <c:v>57</c:v>
                </c:pt>
                <c:pt idx="22">
                  <c:v>41</c:v>
                </c:pt>
                <c:pt idx="23">
                  <c:v>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56C-4AEC-B348-1E56021CE5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28034416"/>
        <c:axId val="1328031536"/>
      </c:lineChart>
      <c:catAx>
        <c:axId val="13280344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layout>
            <c:manualLayout>
              <c:xMode val="edge"/>
              <c:yMode val="edge"/>
              <c:x val="0.39108503254770594"/>
              <c:y val="0.873968202654289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28031536"/>
        <c:crosses val="autoZero"/>
        <c:auto val="1"/>
        <c:lblAlgn val="ctr"/>
        <c:lblOffset val="100"/>
        <c:noMultiLvlLbl val="0"/>
      </c:catAx>
      <c:valAx>
        <c:axId val="1328031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2803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[20 23_22_0168f6c419cac639.60292881transaction_list.xlsx]Анализ 1 сентября !Сводная таблица22</c:name>
    <c:fmtId val="3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среднего времени обработки транзакции по платежным системам 1 сентября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'Анализ 1 сентября '!$B$79:$B$80</c:f>
              <c:strCache>
                <c:ptCount val="1"/>
                <c:pt idx="0">
                  <c:v>MasterCard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'!$A$81:$A$105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'!$B$81:$B$105</c:f>
              <c:numCache>
                <c:formatCode>0</c:formatCode>
                <c:ptCount val="24"/>
                <c:pt idx="0">
                  <c:v>98.004942738997016</c:v>
                </c:pt>
                <c:pt idx="1">
                  <c:v>104.50348966902024</c:v>
                </c:pt>
                <c:pt idx="2">
                  <c:v>106.63820033892989</c:v>
                </c:pt>
                <c:pt idx="3">
                  <c:v>105.07509346974835</c:v>
                </c:pt>
                <c:pt idx="4">
                  <c:v>109.98871595779013</c:v>
                </c:pt>
                <c:pt idx="5">
                  <c:v>136.83009870350361</c:v>
                </c:pt>
                <c:pt idx="6">
                  <c:v>121.09515341243853</c:v>
                </c:pt>
                <c:pt idx="7">
                  <c:v>111.68732674307545</c:v>
                </c:pt>
                <c:pt idx="8">
                  <c:v>122.78747376269446</c:v>
                </c:pt>
                <c:pt idx="9">
                  <c:v>103.87442401393359</c:v>
                </c:pt>
                <c:pt idx="10">
                  <c:v>97.818573527312012</c:v>
                </c:pt>
                <c:pt idx="11">
                  <c:v>152.14204047146569</c:v>
                </c:pt>
                <c:pt idx="12">
                  <c:v>144.9174364897892</c:v>
                </c:pt>
                <c:pt idx="13">
                  <c:v>153.34645864013584</c:v>
                </c:pt>
                <c:pt idx="14">
                  <c:v>161.04652635216459</c:v>
                </c:pt>
                <c:pt idx="15">
                  <c:v>156.1599844214206</c:v>
                </c:pt>
                <c:pt idx="16">
                  <c:v>109.99185800050887</c:v>
                </c:pt>
                <c:pt idx="17">
                  <c:v>108.34328806959093</c:v>
                </c:pt>
                <c:pt idx="18">
                  <c:v>128.29759712965989</c:v>
                </c:pt>
                <c:pt idx="19">
                  <c:v>145.87931551955521</c:v>
                </c:pt>
                <c:pt idx="20">
                  <c:v>153.02663714319351</c:v>
                </c:pt>
                <c:pt idx="21">
                  <c:v>136.87760263384706</c:v>
                </c:pt>
                <c:pt idx="22">
                  <c:v>135.73066582426154</c:v>
                </c:pt>
                <c:pt idx="23">
                  <c:v>160.97159491443375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A5-4F2F-941D-6F10BF767985}"/>
            </c:ext>
          </c:extLst>
        </c:ser>
        <c:ser>
          <c:idx val="1"/>
          <c:order val="1"/>
          <c:tx>
            <c:strRef>
              <c:f>'Анализ 1 сентября '!$C$79:$C$80</c:f>
              <c:strCache>
                <c:ptCount val="1"/>
                <c:pt idx="0">
                  <c:v>Visa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'!$A$81:$A$105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'!$C$81:$C$105</c:f>
              <c:numCache>
                <c:formatCode>0</c:formatCode>
                <c:ptCount val="24"/>
                <c:pt idx="0">
                  <c:v>113.9331184584354</c:v>
                </c:pt>
                <c:pt idx="1">
                  <c:v>118.51813853942215</c:v>
                </c:pt>
                <c:pt idx="2">
                  <c:v>106.28921470564345</c:v>
                </c:pt>
                <c:pt idx="3">
                  <c:v>122.74794969940558</c:v>
                </c:pt>
                <c:pt idx="4">
                  <c:v>120.90261769535149</c:v>
                </c:pt>
                <c:pt idx="5">
                  <c:v>133.52976570505712</c:v>
                </c:pt>
                <c:pt idx="6">
                  <c:v>125.25377968268003</c:v>
                </c:pt>
                <c:pt idx="7">
                  <c:v>105.52373028282697</c:v>
                </c:pt>
                <c:pt idx="8">
                  <c:v>111.12034194321544</c:v>
                </c:pt>
                <c:pt idx="9">
                  <c:v>110.74600171757665</c:v>
                </c:pt>
                <c:pt idx="10">
                  <c:v>107.80457725307761</c:v>
                </c:pt>
                <c:pt idx="11">
                  <c:v>152.08407824366904</c:v>
                </c:pt>
                <c:pt idx="12">
                  <c:v>149.76138902303879</c:v>
                </c:pt>
                <c:pt idx="13">
                  <c:v>166.64078854600808</c:v>
                </c:pt>
                <c:pt idx="14">
                  <c:v>148.33432658670063</c:v>
                </c:pt>
                <c:pt idx="15">
                  <c:v>159.87263613443992</c:v>
                </c:pt>
                <c:pt idx="16">
                  <c:v>109.55382721005734</c:v>
                </c:pt>
                <c:pt idx="17">
                  <c:v>111.96749041449617</c:v>
                </c:pt>
                <c:pt idx="18">
                  <c:v>113.06782551270364</c:v>
                </c:pt>
                <c:pt idx="19">
                  <c:v>104.15490594127083</c:v>
                </c:pt>
                <c:pt idx="20">
                  <c:v>106.89762774152014</c:v>
                </c:pt>
                <c:pt idx="21">
                  <c:v>112.89883423057135</c:v>
                </c:pt>
                <c:pt idx="22">
                  <c:v>111.73753200564533</c:v>
                </c:pt>
                <c:pt idx="23">
                  <c:v>113.96886988826279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A5-4F2F-941D-6F10BF767985}"/>
            </c:ext>
          </c:extLst>
        </c:ser>
        <c:ser>
          <c:idx val="2"/>
          <c:order val="2"/>
          <c:tx>
            <c:strRef>
              <c:f>'Анализ 1 сентября '!$D$79:$D$80</c:f>
              <c:strCache>
                <c:ptCount val="1"/>
                <c:pt idx="0">
                  <c:v>МИР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'Анализ 1 сентября '!$A$81:$A$105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'Анализ 1 сентября '!$D$81:$D$105</c:f>
              <c:numCache>
                <c:formatCode>0</c:formatCode>
                <c:ptCount val="24"/>
                <c:pt idx="0">
                  <c:v>109.11751151738216</c:v>
                </c:pt>
                <c:pt idx="1">
                  <c:v>90.833559767037755</c:v>
                </c:pt>
                <c:pt idx="2">
                  <c:v>102.10764815244053</c:v>
                </c:pt>
                <c:pt idx="3">
                  <c:v>150.70751505810767</c:v>
                </c:pt>
                <c:pt idx="4">
                  <c:v>129.44478819306607</c:v>
                </c:pt>
                <c:pt idx="5">
                  <c:v>123.9528373095461</c:v>
                </c:pt>
                <c:pt idx="6">
                  <c:v>118.58414526738714</c:v>
                </c:pt>
                <c:pt idx="7">
                  <c:v>90.217914395034313</c:v>
                </c:pt>
                <c:pt idx="8">
                  <c:v>103.99905512665188</c:v>
                </c:pt>
                <c:pt idx="9">
                  <c:v>108.91658192813338</c:v>
                </c:pt>
                <c:pt idx="10">
                  <c:v>117.58953381911851</c:v>
                </c:pt>
                <c:pt idx="11">
                  <c:v>148.02394873945963</c:v>
                </c:pt>
                <c:pt idx="12">
                  <c:v>162.95781722778815</c:v>
                </c:pt>
                <c:pt idx="13">
                  <c:v>146.71497822112948</c:v>
                </c:pt>
                <c:pt idx="14">
                  <c:v>138.1733808879662</c:v>
                </c:pt>
                <c:pt idx="15">
                  <c:v>144.86004912606595</c:v>
                </c:pt>
                <c:pt idx="16">
                  <c:v>117.52828556396391</c:v>
                </c:pt>
                <c:pt idx="17">
                  <c:v>119.6862743133679</c:v>
                </c:pt>
                <c:pt idx="18">
                  <c:v>97.626264247362712</c:v>
                </c:pt>
                <c:pt idx="19">
                  <c:v>108.14739344193815</c:v>
                </c:pt>
                <c:pt idx="20">
                  <c:v>107.86299420726776</c:v>
                </c:pt>
                <c:pt idx="21">
                  <c:v>117.94039858068572</c:v>
                </c:pt>
                <c:pt idx="22">
                  <c:v>103.57064268590041</c:v>
                </c:pt>
                <c:pt idx="23">
                  <c:v>100.77668904725995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A5-4F2F-941D-6F10BF7679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1366768"/>
        <c:axId val="1971389808"/>
      </c:lineChart>
      <c:catAx>
        <c:axId val="1971366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71389808"/>
        <c:crosses val="autoZero"/>
        <c:auto val="1"/>
        <c:lblAlgn val="ctr"/>
        <c:lblOffset val="100"/>
        <c:noMultiLvlLbl val="0"/>
      </c:catAx>
      <c:valAx>
        <c:axId val="1971389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секунд</a:t>
                </a:r>
              </a:p>
            </c:rich>
          </c:tx>
          <c:layout>
            <c:manualLayout>
              <c:xMode val="edge"/>
              <c:yMode val="edge"/>
              <c:x val="2.8686137921801219E-2"/>
              <c:y val="0.3368326325023711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71366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[10 18_38_31691231278c15d1.31351032transaction_list2 (1).xlsx]Задача 1!Сводная таблица9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Сбой</a:t>
            </a:r>
            <a:r>
              <a:rPr lang="ru-RU" baseline="0"/>
              <a:t> 5 сентября и среднее время транзакции на 1 сервере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1'!$B$4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1'!$A$5:$A$8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1'!$B$5:$B$8</c:f>
              <c:numCache>
                <c:formatCode>0.00</c:formatCode>
                <c:ptCount val="3"/>
                <c:pt idx="0">
                  <c:v>139.92796609547162</c:v>
                </c:pt>
                <c:pt idx="1">
                  <c:v>98.869090915445909</c:v>
                </c:pt>
                <c:pt idx="2">
                  <c:v>97.499005949665346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E1-4D34-B493-456D39A1DA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36522144"/>
        <c:axId val="1036522624"/>
      </c:barChart>
      <c:lineChart>
        <c:grouping val="standard"/>
        <c:varyColors val="0"/>
        <c:ser>
          <c:idx val="1"/>
          <c:order val="1"/>
          <c:tx>
            <c:strRef>
              <c:f>'Задача 1'!$C$4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1'!$A$5:$A$8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1'!$C$5:$C$8</c:f>
              <c:numCache>
                <c:formatCode>General</c:formatCode>
                <c:ptCount val="3"/>
                <c:pt idx="0">
                  <c:v>472</c:v>
                </c:pt>
                <c:pt idx="1">
                  <c:v>550</c:v>
                </c:pt>
                <c:pt idx="2">
                  <c:v>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E1-4D34-B493-456D39A1DA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6467424"/>
        <c:axId val="1036464064"/>
      </c:lineChart>
      <c:catAx>
        <c:axId val="10365221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6522624"/>
        <c:crosses val="autoZero"/>
        <c:auto val="1"/>
        <c:lblAlgn val="ctr"/>
        <c:lblOffset val="100"/>
        <c:noMultiLvlLbl val="0"/>
      </c:catAx>
      <c:valAx>
        <c:axId val="103652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Среднее время транзакции,сек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6522144"/>
        <c:crosses val="autoZero"/>
        <c:crossBetween val="between"/>
      </c:valAx>
      <c:valAx>
        <c:axId val="103646406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6467424"/>
        <c:crosses val="max"/>
        <c:crossBetween val="between"/>
      </c:valAx>
      <c:catAx>
        <c:axId val="10364674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64640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[10 18_38_31691231278c15d1.31351032transaction_list2 (1).xlsx]Задача 1!Сводная таблица11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Сбой</a:t>
            </a:r>
            <a:r>
              <a:rPr lang="ru-RU" baseline="0"/>
              <a:t> 6 сен на сервере 1 и среднее время транзакции</a:t>
            </a:r>
            <a:endParaRPr lang="ru-RU"/>
          </a:p>
        </c:rich>
      </c:tx>
      <c:layout>
        <c:manualLayout>
          <c:xMode val="edge"/>
          <c:yMode val="edge"/>
          <c:x val="0.13930007456004542"/>
          <c:y val="2.988493124897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0615711252653927E-2"/>
              <c:y val="-5.722460658082975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0615711252653927E-2"/>
              <c:y val="-5.722460658082975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1.0615711252653927E-2"/>
              <c:y val="-5.722460658082975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1'!$B$35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8E8-448D-BA3E-C13FE4CBE07C}"/>
              </c:ext>
            </c:extLst>
          </c:dPt>
          <c:dLbls>
            <c:dLbl>
              <c:idx val="2"/>
              <c:layout>
                <c:manualLayout>
                  <c:x val="1.0615711252653927E-2"/>
                  <c:y val="-5.72246065808297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8E8-448D-BA3E-C13FE4CBE0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1'!$A$36:$A$39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1'!$B$36:$B$39</c:f>
              <c:numCache>
                <c:formatCode>0.00</c:formatCode>
                <c:ptCount val="3"/>
                <c:pt idx="0">
                  <c:v>207.90849670986918</c:v>
                </c:pt>
                <c:pt idx="1">
                  <c:v>230.29468595860121</c:v>
                </c:pt>
                <c:pt idx="2">
                  <c:v>186.33333329583846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E8-448D-BA3E-C13FE4CBE0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0011919"/>
        <c:axId val="90021999"/>
      </c:barChart>
      <c:lineChart>
        <c:grouping val="standard"/>
        <c:varyColors val="0"/>
        <c:ser>
          <c:idx val="1"/>
          <c:order val="1"/>
          <c:tx>
            <c:strRef>
              <c:f>'Задача 1'!$C$35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1'!$A$36:$A$39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1'!$C$36:$C$39</c:f>
              <c:numCache>
                <c:formatCode>General</c:formatCode>
                <c:ptCount val="3"/>
                <c:pt idx="0">
                  <c:v>153</c:v>
                </c:pt>
                <c:pt idx="1">
                  <c:v>207</c:v>
                </c:pt>
                <c:pt idx="2">
                  <c:v>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E8-448D-BA3E-C13FE4CBE0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032079"/>
        <c:axId val="90057039"/>
      </c:lineChart>
      <c:catAx>
        <c:axId val="900119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021999"/>
        <c:crosses val="autoZero"/>
        <c:auto val="1"/>
        <c:lblAlgn val="ctr"/>
        <c:lblOffset val="100"/>
        <c:noMultiLvlLbl val="0"/>
      </c:catAx>
      <c:valAx>
        <c:axId val="90021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Среднее время транзакции,сек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011919"/>
        <c:crosses val="autoZero"/>
        <c:crossBetween val="between"/>
      </c:valAx>
      <c:valAx>
        <c:axId val="9005703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032079"/>
        <c:crosses val="max"/>
        <c:crossBetween val="between"/>
      </c:valAx>
      <c:catAx>
        <c:axId val="900320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005703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[10 18_38_31691231278c15d1.31351032transaction_list2 (1).xlsx]Задача 1!Сводная таблица10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Сбой 7 сентябр</a:t>
            </a:r>
            <a:r>
              <a:rPr lang="ru-RU" baseline="0"/>
              <a:t>я и его влияние на среднее время транзакции на 2 сервере</a:t>
            </a:r>
            <a:endParaRPr lang="ru-RU"/>
          </a:p>
        </c:rich>
      </c:tx>
      <c:layout>
        <c:manualLayout>
          <c:xMode val="edge"/>
          <c:yMode val="edge"/>
          <c:x val="0.10409070799755242"/>
          <c:y val="1.83184856237750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1'!$B$19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1'!$A$20:$A$23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1'!$B$20:$B$23</c:f>
              <c:numCache>
                <c:formatCode>0.00</c:formatCode>
                <c:ptCount val="3"/>
                <c:pt idx="0">
                  <c:v>64.986666636541486</c:v>
                </c:pt>
                <c:pt idx="1">
                  <c:v>69.70238094259652</c:v>
                </c:pt>
                <c:pt idx="2">
                  <c:v>114.07432432421734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5D-49E2-88FC-503E69163D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36483744"/>
        <c:axId val="1036461184"/>
      </c:barChart>
      <c:lineChart>
        <c:grouping val="standard"/>
        <c:varyColors val="0"/>
        <c:ser>
          <c:idx val="1"/>
          <c:order val="1"/>
          <c:tx>
            <c:strRef>
              <c:f>'Задача 1'!$C$19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1'!$A$20:$A$23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1'!$C$20:$C$23</c:f>
              <c:numCache>
                <c:formatCode>General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5D-49E2-88FC-503E69163D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6473184"/>
        <c:axId val="1036472704"/>
      </c:lineChart>
      <c:catAx>
        <c:axId val="10364837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6461184"/>
        <c:crosses val="autoZero"/>
        <c:auto val="1"/>
        <c:lblAlgn val="ctr"/>
        <c:lblOffset val="100"/>
        <c:noMultiLvlLbl val="0"/>
      </c:catAx>
      <c:valAx>
        <c:axId val="1036461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6483744"/>
        <c:crosses val="autoZero"/>
        <c:crossBetween val="between"/>
      </c:valAx>
      <c:valAx>
        <c:axId val="103647270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rgbClr val="000000">
                        <a:lumMod val="65000"/>
                        <a:lumOff val="35000"/>
                      </a:srgbClr>
                    </a:solidFill>
                  </a:rPr>
                  <a:t>Количество транзакций</a:t>
                </a:r>
                <a:endParaRPr lang="ru-RU"/>
              </a:p>
            </c:rich>
          </c:tx>
          <c:layout>
            <c:manualLayout>
              <c:xMode val="edge"/>
              <c:yMode val="edge"/>
              <c:x val="0.61820167215940103"/>
              <c:y val="0.36100447803432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6473184"/>
        <c:crosses val="max"/>
        <c:crossBetween val="between"/>
      </c:valAx>
      <c:catAx>
        <c:axId val="10364731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647270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[10 18_38_31691231278c15d1.31351032transaction_list2 (1).xlsx]Задача 2!Сводная таблица12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Анализ</a:t>
            </a:r>
            <a:r>
              <a:rPr lang="ru-RU" baseline="0"/>
              <a:t> эффективности акции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0964360587002098E-2"/>
              <c:y val="-8.259002312520651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0964360587002098E-2"/>
              <c:y val="-8.259002312520651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0964360587002098E-2"/>
              <c:y val="-8.259002312520651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0964360587002098E-2"/>
              <c:y val="-8.259002312520651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0964360587002098E-2"/>
              <c:y val="-8.259002312520651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80171346506215"/>
          <c:y val="0.24991428846418975"/>
          <c:w val="0.39878753363376745"/>
          <c:h val="0.534747638705716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'Задача 2'!$B$3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'Задача 2'!$A$4:$A$7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2'!$B$4:$B$7</c:f>
              <c:numCache>
                <c:formatCode>General</c:formatCode>
                <c:ptCount val="3"/>
                <c:pt idx="0">
                  <c:v>3388</c:v>
                </c:pt>
                <c:pt idx="1">
                  <c:v>3474</c:v>
                </c:pt>
                <c:pt idx="2">
                  <c:v>3415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6C-4744-85DB-7AA147ED43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36517824"/>
        <c:axId val="1036519264"/>
      </c:barChart>
      <c:lineChart>
        <c:grouping val="standard"/>
        <c:varyColors val="0"/>
        <c:ser>
          <c:idx val="1"/>
          <c:order val="1"/>
          <c:tx>
            <c:strRef>
              <c:f>'Задача 2'!$C$3</c:f>
              <c:strCache>
                <c:ptCount val="1"/>
                <c:pt idx="0">
                  <c:v>Среднее по полю sum_payment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6C-4744-85DB-7AA147ED4385}"/>
              </c:ext>
            </c:extLst>
          </c:dPt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836C-4744-85DB-7AA147ED4385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836C-4744-85DB-7AA147ED4385}"/>
              </c:ext>
            </c:extLst>
          </c:dPt>
          <c:dLbls>
            <c:dLbl>
              <c:idx val="0"/>
              <c:layout>
                <c:manualLayout>
                  <c:x val="-2.0964360587002098E-2"/>
                  <c:y val="-8.259002312520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6C-4744-85DB-7AA147ED4385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36C-4744-85DB-7AA147ED4385}"/>
                </c:ext>
              </c:extLst>
            </c:dLbl>
            <c:dLbl>
              <c:idx val="2"/>
              <c:layout>
                <c:manualLayout>
                  <c:x val="-2.0964360587002098E-2"/>
                  <c:y val="-8.2590023125206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36C-4744-85DB-7AA147ED4385}"/>
                </c:ext>
              </c:extLst>
            </c:dLbl>
            <c:spPr>
              <a:solidFill>
                <a:srgbClr val="FFFF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2'!$C$4:$C$7</c:f>
              <c:numCache>
                <c:formatCode>#\ ##0\ "₽"</c:formatCode>
                <c:ptCount val="3"/>
                <c:pt idx="0">
                  <c:v>18458.94598583235</c:v>
                </c:pt>
                <c:pt idx="1">
                  <c:v>18401.787852619458</c:v>
                </c:pt>
                <c:pt idx="2">
                  <c:v>19914.488140556368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36C-4744-85DB-7AA147ED43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6496704"/>
        <c:axId val="1036493344"/>
      </c:lineChart>
      <c:catAx>
        <c:axId val="10365178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6519264"/>
        <c:crosses val="autoZero"/>
        <c:auto val="1"/>
        <c:lblAlgn val="ctr"/>
        <c:lblOffset val="100"/>
        <c:noMultiLvlLbl val="0"/>
      </c:catAx>
      <c:valAx>
        <c:axId val="1036519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транзакций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6517824"/>
        <c:crosses val="autoZero"/>
        <c:crossBetween val="between"/>
      </c:valAx>
      <c:valAx>
        <c:axId val="103649334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Средний чек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\ &quot;₽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36496704"/>
        <c:crosses val="max"/>
        <c:crossBetween val="between"/>
      </c:valAx>
      <c:catAx>
        <c:axId val="10364967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64933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[10 18_38_31691231278c15d1.31351032transaction_list2 (1).xlsx]Задание 2!Сводная таблица15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Сегментация</a:t>
            </a:r>
            <a:r>
              <a:rPr lang="ru-RU" baseline="0"/>
              <a:t> скидок и их сумма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'Задание 2'!$B$3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2'!$A$4:$A$9</c:f>
              <c:strCache>
                <c:ptCount val="5"/>
                <c:pt idx="0">
                  <c:v>0%</c:v>
                </c:pt>
                <c:pt idx="1">
                  <c:v>1%</c:v>
                </c:pt>
                <c:pt idx="2">
                  <c:v>2%</c:v>
                </c:pt>
                <c:pt idx="3">
                  <c:v>3%</c:v>
                </c:pt>
                <c:pt idx="4">
                  <c:v>4%</c:v>
                </c:pt>
              </c:strCache>
            </c:strRef>
          </c:cat>
          <c:val>
            <c:numRef>
              <c:f>'Задание 2'!$B$4:$B$9</c:f>
              <c:numCache>
                <c:formatCode>#\ ##0\ "₽"</c:formatCode>
                <c:ptCount val="5"/>
                <c:pt idx="0">
                  <c:v>0</c:v>
                </c:pt>
                <c:pt idx="1">
                  <c:v>246507.15988063</c:v>
                </c:pt>
                <c:pt idx="2">
                  <c:v>730390.45374522021</c:v>
                </c:pt>
                <c:pt idx="3">
                  <c:v>1258800.7875509462</c:v>
                </c:pt>
                <c:pt idx="4">
                  <c:v>1765252.9007042588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E1-49E3-B4C7-1966B75D1D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0002799"/>
        <c:axId val="90013359"/>
      </c:barChart>
      <c:catAx>
        <c:axId val="900027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Процент скидки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013359"/>
        <c:crosses val="autoZero"/>
        <c:auto val="1"/>
        <c:lblAlgn val="ctr"/>
        <c:lblOffset val="100"/>
        <c:noMultiLvlLbl val="0"/>
      </c:catAx>
      <c:valAx>
        <c:axId val="90013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Сумма скидки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\ &quot;₽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002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325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059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425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54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93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192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86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59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751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721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3906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3802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37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374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60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14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511CA-4293-4875-8597-6F7FB3FEE133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61BFB0F-EE26-4C20-96FF-9B2FB2FF00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41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63197-269D-2869-F079-652D88903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735" y="2182984"/>
            <a:ext cx="7330034" cy="1986344"/>
          </a:xfrm>
        </p:spPr>
        <p:txBody>
          <a:bodyPr>
            <a:noAutofit/>
          </a:bodyPr>
          <a:lstStyle/>
          <a:p>
            <a:pPr algn="l"/>
            <a:r>
              <a:rPr lang="ru-RU" sz="4000" dirty="0"/>
              <a:t>Курсовая работа по анализу первой недели сентября в крупном торговом ретейлере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1B5830-958B-1FC3-31D9-0E23BCB13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735" y="5216902"/>
            <a:ext cx="7766936" cy="1096899"/>
          </a:xfrm>
        </p:spPr>
        <p:txBody>
          <a:bodyPr/>
          <a:lstStyle/>
          <a:p>
            <a:pPr algn="l"/>
            <a:r>
              <a:rPr lang="ru-RU" dirty="0"/>
              <a:t>Исполнитель: </a:t>
            </a:r>
          </a:p>
          <a:p>
            <a:pPr algn="l"/>
            <a:r>
              <a:rPr lang="ru-RU" dirty="0"/>
              <a:t>Бусырева Анастасия Александровна</a:t>
            </a:r>
          </a:p>
        </p:txBody>
      </p:sp>
    </p:spTree>
    <p:extLst>
      <p:ext uri="{BB962C8B-B14F-4D97-AF65-F5344CB8AC3E}">
        <p14:creationId xmlns:p14="http://schemas.microsoft.com/office/powerpoint/2010/main" val="19240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A3F92-82AD-9C50-C8F7-9D41A85B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062" y="248645"/>
            <a:ext cx="6207853" cy="1278466"/>
          </a:xfrm>
        </p:spPr>
        <p:txBody>
          <a:bodyPr/>
          <a:lstStyle/>
          <a:p>
            <a:r>
              <a:rPr lang="ru-RU" sz="3600" dirty="0"/>
              <a:t>Анализ роста транзакций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F35117-E013-BBFD-803F-8F82548B2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21960" y="2160166"/>
            <a:ext cx="3716323" cy="260478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Количество транзакций увеличилось с 3 сентября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Появилась новая торговая точка на ул. Чертановская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Упало количество транзакций на Симферопольском бульваре</a:t>
            </a:r>
          </a:p>
        </p:txBody>
      </p:sp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021FF460-B029-7E54-416F-83F84BC976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7952163"/>
              </p:ext>
            </p:extLst>
          </p:nvPr>
        </p:nvGraphicFramePr>
        <p:xfrm>
          <a:off x="295011" y="2029244"/>
          <a:ext cx="5174609" cy="3273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44224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BB3713-DF3C-2096-0B34-CEF92C51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нагрузки на сервера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7DD212-D0C5-5403-B43A-0EA145A7D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728981"/>
            <a:ext cx="4184035" cy="43160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С 3-го сентября на 3-м сервере стала резко возрастать нагрузка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39AE87-1277-68C0-503A-38B130389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5668" y="1729830"/>
            <a:ext cx="4184034" cy="568786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Перераспределив торговую точку Ракетный бульвар на 1-й сервер, нагрузку удалось оптимизировать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661497AB-0ACE-FB5D-D2DE-8658404BAE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574226"/>
              </p:ext>
            </p:extLst>
          </p:nvPr>
        </p:nvGraphicFramePr>
        <p:xfrm>
          <a:off x="451992" y="2729375"/>
          <a:ext cx="42748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78EF4357-DEDC-995E-E88D-07598F1B5B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9510457"/>
              </p:ext>
            </p:extLst>
          </p:nvPr>
        </p:nvGraphicFramePr>
        <p:xfrm>
          <a:off x="5375596" y="2729375"/>
          <a:ext cx="4343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87158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F23CF-E01B-896D-5E82-5ABABDFD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Исследование длительности транзакций на кассах самообслуживания (КСО)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A6D7BD-7147-36CA-5E57-0A3CCCE62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7468" y="2001198"/>
            <a:ext cx="4184034" cy="3880773"/>
          </a:xfrm>
        </p:spPr>
        <p:txBody>
          <a:bodyPr/>
          <a:lstStyle/>
          <a:p>
            <a:r>
              <a:rPr lang="ru-RU" dirty="0"/>
              <a:t>80% приходится на КСО на Симферопольском бульваре</a:t>
            </a:r>
          </a:p>
          <a:p>
            <a:endParaRPr lang="ru-RU" dirty="0"/>
          </a:p>
          <a:p>
            <a:r>
              <a:rPr lang="ru-RU" dirty="0"/>
              <a:t>75% на ул. </a:t>
            </a:r>
            <a:r>
              <a:rPr lang="ru-RU" dirty="0" err="1"/>
              <a:t>Чертановкая</a:t>
            </a:r>
            <a:endParaRPr lang="ru-RU" dirty="0"/>
          </a:p>
          <a:p>
            <a:endParaRPr lang="ru-RU" dirty="0"/>
          </a:p>
          <a:p>
            <a:r>
              <a:rPr lang="ru-RU" dirty="0"/>
              <a:t>На Ракетном бульваре нет операций на КСО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28C50DAB-F3EC-4C43-20A0-96CD58CA28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1569842"/>
              </p:ext>
            </p:extLst>
          </p:nvPr>
        </p:nvGraphicFramePr>
        <p:xfrm>
          <a:off x="677335" y="2001198"/>
          <a:ext cx="4825844" cy="29264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10276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6C81-DE20-A9A9-6297-377422131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 длительности транзакций на кассах самообслуживания(КСО)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D18C3D-607F-A95F-5D52-ECAAF3EC24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691668"/>
          </a:xfrm>
        </p:spPr>
        <p:txBody>
          <a:bodyPr>
            <a:normAutofit/>
          </a:bodyPr>
          <a:lstStyle/>
          <a:p>
            <a:r>
              <a:rPr lang="ru-RU" dirty="0"/>
              <a:t>Количество транзакций на КСО с 3 сентября растет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1C300B-B364-419D-0CFA-548BD4D63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90"/>
            <a:ext cx="4184034" cy="691668"/>
          </a:xfrm>
        </p:spPr>
        <p:txBody>
          <a:bodyPr>
            <a:normAutofit/>
          </a:bodyPr>
          <a:lstStyle/>
          <a:p>
            <a:r>
              <a:rPr lang="ru-RU" dirty="0"/>
              <a:t>Резкое увеличение времени транзакций на КСО 1 сентября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3457A52B-B70A-DED0-E163-5896AA466A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6271076"/>
              </p:ext>
            </p:extLst>
          </p:nvPr>
        </p:nvGraphicFramePr>
        <p:xfrm>
          <a:off x="403668" y="329816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A9956951-6BD9-CC1E-9A39-AD6BE9A456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8589395"/>
              </p:ext>
            </p:extLst>
          </p:nvPr>
        </p:nvGraphicFramePr>
        <p:xfrm>
          <a:off x="5089970" y="329816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59912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20D14-B784-9C88-5511-2FC578FC7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48" y="168484"/>
            <a:ext cx="8596668" cy="1320800"/>
          </a:xfrm>
        </p:spPr>
        <p:txBody>
          <a:bodyPr/>
          <a:lstStyle/>
          <a:p>
            <a:r>
              <a:rPr lang="ru-RU" dirty="0"/>
              <a:t>Исследование 1 сентября по часам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4369D9-1A18-E743-E959-99091A968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7391" y="4087220"/>
            <a:ext cx="4184035" cy="2602296"/>
          </a:xfrm>
        </p:spPr>
        <p:txBody>
          <a:bodyPr/>
          <a:lstStyle/>
          <a:p>
            <a:r>
              <a:rPr lang="ru-RU" dirty="0"/>
              <a:t>Скачок на 1-м сервере с 3 до 6 часов</a:t>
            </a:r>
          </a:p>
          <a:p>
            <a:r>
              <a:rPr lang="ru-RU" dirty="0"/>
              <a:t>Скачок на 2-м сервере с 11 до 15 часов</a:t>
            </a:r>
          </a:p>
          <a:p>
            <a:r>
              <a:rPr lang="ru-RU" dirty="0"/>
              <a:t>Увеличение длительности обработки транзакций на 3-м сервере с 17 часов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E4DDF7-261E-6A3A-55BD-1504E9CD4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7392" y="1233709"/>
            <a:ext cx="3980458" cy="2602296"/>
          </a:xfrm>
        </p:spPr>
        <p:txBody>
          <a:bodyPr/>
          <a:lstStyle/>
          <a:p>
            <a:r>
              <a:rPr lang="ru-RU" dirty="0"/>
              <a:t>Всплеск на </a:t>
            </a:r>
            <a:r>
              <a:rPr lang="ru-RU" dirty="0" err="1"/>
              <a:t>ул.Щорса</a:t>
            </a:r>
            <a:r>
              <a:rPr lang="ru-RU" dirty="0"/>
              <a:t> с 3 до 6 часов – сбой интернета</a:t>
            </a:r>
          </a:p>
          <a:p>
            <a:r>
              <a:rPr lang="ru-RU" dirty="0"/>
              <a:t>Увеличение длительности обработки транзакций с 17 часов на Ракетном бульваре</a:t>
            </a:r>
          </a:p>
          <a:p>
            <a:r>
              <a:rPr lang="ru-RU" dirty="0"/>
              <a:t>Скачок с 11 до 15 на пр-т </a:t>
            </a:r>
            <a:r>
              <a:rPr lang="ru-RU" dirty="0" err="1"/>
              <a:t>Вернандского</a:t>
            </a:r>
            <a:r>
              <a:rPr lang="ru-RU" dirty="0"/>
              <a:t> и Ленинский пр-т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58170D57-6E7B-A967-94DF-A278C29F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1386681"/>
              </p:ext>
            </p:extLst>
          </p:nvPr>
        </p:nvGraphicFramePr>
        <p:xfrm>
          <a:off x="535348" y="3938343"/>
          <a:ext cx="5706061" cy="2919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1CEB5E86-88FA-9E1B-276A-AC455A790A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9858075"/>
              </p:ext>
            </p:extLst>
          </p:nvPr>
        </p:nvGraphicFramePr>
        <p:xfrm>
          <a:off x="535348" y="1233709"/>
          <a:ext cx="5962043" cy="2704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58101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E2DCD-14A3-0079-8E0B-39CA45F4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Исследование количества транзакций по торговым точкам 1 сентября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6D9B13-EFD7-3F3C-3E91-05994B1B9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32646" y="2193720"/>
            <a:ext cx="2258785" cy="388077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 11 по 15 часов на Ленинском и Вернадском проспектах значительно увеличилось количество транзакций, что является причиной увеличения длительности транзакций на 2м сервере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4C8B1CE1-7CAC-F387-6575-8FB67C85D5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4771837"/>
              </p:ext>
            </p:extLst>
          </p:nvPr>
        </p:nvGraphicFramePr>
        <p:xfrm>
          <a:off x="200897" y="2097248"/>
          <a:ext cx="7231749" cy="4073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14590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943FB-622C-BE83-C11D-CF8C5A75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Исследование длительности транзакций по платежным системам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94179F-8C50-291D-2DF9-B32BF3E3C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9178" y="2227701"/>
            <a:ext cx="2857552" cy="3880773"/>
          </a:xfrm>
        </p:spPr>
        <p:txBody>
          <a:bodyPr/>
          <a:lstStyle/>
          <a:p>
            <a:r>
              <a:rPr lang="ru-RU" dirty="0"/>
              <a:t>по графику платежных систем видим, что в с 17 часов тормозит интеграция с платежной системой MasterCard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59B1DEC7-5ACC-A61C-93D8-AD59802D466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73692697"/>
              </p:ext>
            </p:extLst>
          </p:nvPr>
        </p:nvGraphicFramePr>
        <p:xfrm>
          <a:off x="677863" y="2160588"/>
          <a:ext cx="6150776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0546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1FED0-0A9D-C672-9862-8625588FE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Общий вывод по исследованию сбоев обработки транзакций 1 сентября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AA4B2A-45D5-957B-0542-72682C71B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основании исследования и дополнительной информации от коллег, можно сделать вывод о том, что было несколько причин увеличения времени транзакций на торговых точках: </a:t>
            </a:r>
          </a:p>
          <a:p>
            <a:r>
              <a:rPr lang="ru-RU" dirty="0"/>
              <a:t>ул. Щорса с 3 до 6 часов - проблемы с интернетом, </a:t>
            </a:r>
          </a:p>
          <a:p>
            <a:r>
              <a:rPr lang="ru-RU" dirty="0"/>
              <a:t>Ленинский и Вернадский проспекты с 11 до 15 часов - маркетинговая акция и резкое увеличение количества транзакций</a:t>
            </a:r>
          </a:p>
          <a:p>
            <a:r>
              <a:rPr lang="ru-RU" dirty="0"/>
              <a:t>Ракетный бульвар с 17 часов- проблема с интеграцией платежной системы </a:t>
            </a:r>
            <a:r>
              <a:rPr lang="en-US" dirty="0"/>
              <a:t>MasterCard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1272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EA3A6B-417F-30A5-BD9F-6BB289903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Исследования 5-7 сентября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9FA9A1-6F25-4077-5E77-EADABE6F0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12892" y="4196331"/>
            <a:ext cx="3861110" cy="2218465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5 сентября длительность операций с 00 до 9 утра на 1 сервере повысилась на 42,5%</a:t>
            </a:r>
          </a:p>
          <a:p>
            <a:endParaRPr lang="ru-RU" dirty="0"/>
          </a:p>
          <a:p>
            <a:r>
              <a:rPr lang="ru-RU" dirty="0"/>
              <a:t>6 сентября в течение всего дня на 1-м сервере длительность операций повысилась на 23,6%</a:t>
            </a:r>
          </a:p>
          <a:p>
            <a:endParaRPr lang="ru-RU" dirty="0"/>
          </a:p>
          <a:p>
            <a:r>
              <a:rPr lang="ru-RU" dirty="0"/>
              <a:t>7 сентября на 2-м сервере длительность операций выросла на 69%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1CC1E94B-BAB4-0E13-AC38-8BC8B5AE4B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2276287"/>
              </p:ext>
            </p:extLst>
          </p:nvPr>
        </p:nvGraphicFramePr>
        <p:xfrm>
          <a:off x="494951" y="1493712"/>
          <a:ext cx="4695912" cy="2549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55F28A02-69B2-D5C9-05D4-CC39F18F0B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1348526"/>
              </p:ext>
            </p:extLst>
          </p:nvPr>
        </p:nvGraphicFramePr>
        <p:xfrm>
          <a:off x="5455166" y="1493713"/>
          <a:ext cx="4472905" cy="2549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8E272A7D-CF61-667D-D279-4494D424F3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797214"/>
              </p:ext>
            </p:extLst>
          </p:nvPr>
        </p:nvGraphicFramePr>
        <p:xfrm>
          <a:off x="494951" y="4084845"/>
          <a:ext cx="4767121" cy="2773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038153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5C1A2F-81C0-E136-C121-1C694DFF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7 сентября – маркетинговая акция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1EB6EF-F39B-650E-072F-A94701DAD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3522" y="1602298"/>
            <a:ext cx="4883168" cy="132080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Средний чек вырос на 7%</a:t>
            </a:r>
          </a:p>
          <a:p>
            <a:r>
              <a:rPr lang="ru-RU" dirty="0"/>
              <a:t>Количество транзакций снизилось</a:t>
            </a:r>
          </a:p>
          <a:p>
            <a:r>
              <a:rPr lang="ru-RU" dirty="0" err="1"/>
              <a:t>Аплифт</a:t>
            </a:r>
            <a:r>
              <a:rPr lang="ru-RU" dirty="0"/>
              <a:t> среднего чека 7 сентября покрыл расходы на лотерею</a:t>
            </a:r>
          </a:p>
          <a:p>
            <a:endParaRPr lang="ru-RU" dirty="0"/>
          </a:p>
          <a:p>
            <a:endParaRPr lang="ru-RU" dirty="0"/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9A7B6951-BD3D-11C5-0C03-EC4BE12BCE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8674994"/>
              </p:ext>
            </p:extLst>
          </p:nvPr>
        </p:nvGraphicFramePr>
        <p:xfrm>
          <a:off x="379679" y="1666245"/>
          <a:ext cx="5638800" cy="3844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7B7676D-A726-1BA7-8DA2-7EEBD021E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758449"/>
              </p:ext>
            </p:extLst>
          </p:nvPr>
        </p:nvGraphicFramePr>
        <p:xfrm>
          <a:off x="6291743" y="3258418"/>
          <a:ext cx="4764947" cy="1867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99530">
                  <a:extLst>
                    <a:ext uri="{9D8B030D-6E8A-4147-A177-3AD203B41FA5}">
                      <a16:colId xmlns:a16="http://schemas.microsoft.com/office/drawing/2014/main" val="2593853950"/>
                    </a:ext>
                  </a:extLst>
                </a:gridCol>
                <a:gridCol w="1165417">
                  <a:extLst>
                    <a:ext uri="{9D8B030D-6E8A-4147-A177-3AD203B41FA5}">
                      <a16:colId xmlns:a16="http://schemas.microsoft.com/office/drawing/2014/main" val="3516492527"/>
                    </a:ext>
                  </a:extLst>
                </a:gridCol>
              </a:tblGrid>
              <a:tr h="3336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u="none" strike="noStrike" dirty="0" err="1">
                          <a:effectLst/>
                        </a:rPr>
                        <a:t>аплифт</a:t>
                      </a:r>
                      <a:r>
                        <a:rPr lang="ru-RU" sz="1100" u="none" strike="noStrike" dirty="0">
                          <a:effectLst/>
                        </a:rPr>
                        <a:t> среднего чека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100" u="none" strike="noStrike" dirty="0">
                          <a:effectLst/>
                        </a:rPr>
                        <a:t>1 484 ₽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01760166"/>
                  </a:ext>
                </a:extLst>
              </a:tr>
              <a:tr h="3336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аплифт в %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8,05%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79559259"/>
                  </a:ext>
                </a:extLst>
              </a:tr>
              <a:tr h="6255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прирост выручки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5 069 497 ₽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68062111"/>
                  </a:ext>
                </a:extLst>
              </a:tr>
              <a:tr h="5743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прибыль проведения акции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100" u="none" strike="noStrike" dirty="0">
                          <a:effectLst/>
                        </a:rPr>
                        <a:t>2 650 997 ₽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84750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117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1D6C6E-F842-7D97-57E0-557B0D9E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035" y="15623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ru-RU" dirty="0"/>
              <a:t>5-7 сентября потери в день из-за программы лояльности в среднем на 1 транзакцию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9A8C4EE7-1FC1-8DE9-084E-9BDCB7D776A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58971225"/>
              </p:ext>
            </p:extLst>
          </p:nvPr>
        </p:nvGraphicFramePr>
        <p:xfrm>
          <a:off x="915372" y="1908496"/>
          <a:ext cx="4629750" cy="14387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5598">
                  <a:extLst>
                    <a:ext uri="{9D8B030D-6E8A-4147-A177-3AD203B41FA5}">
                      <a16:colId xmlns:a16="http://schemas.microsoft.com/office/drawing/2014/main" val="3046909133"/>
                    </a:ext>
                  </a:extLst>
                </a:gridCol>
                <a:gridCol w="1531559">
                  <a:extLst>
                    <a:ext uri="{9D8B030D-6E8A-4147-A177-3AD203B41FA5}">
                      <a16:colId xmlns:a16="http://schemas.microsoft.com/office/drawing/2014/main" val="2367277910"/>
                    </a:ext>
                  </a:extLst>
                </a:gridCol>
                <a:gridCol w="2022593">
                  <a:extLst>
                    <a:ext uri="{9D8B030D-6E8A-4147-A177-3AD203B41FA5}">
                      <a16:colId xmlns:a16="http://schemas.microsoft.com/office/drawing/2014/main" val="513644461"/>
                    </a:ext>
                  </a:extLst>
                </a:gridCol>
              </a:tblGrid>
              <a:tr h="45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u="none" strike="noStrike" dirty="0">
                          <a:effectLst/>
                        </a:rPr>
                        <a:t>День(сентябрь)</a:t>
                      </a:r>
                      <a:endParaRPr lang="ru-RU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u="none" strike="noStrike" dirty="0">
                          <a:effectLst/>
                        </a:rPr>
                        <a:t>Средняя скидка на клиента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Количество транзакций</a:t>
                      </a:r>
                    </a:p>
                  </a:txBody>
                  <a:tcPr marL="6338" marR="6338" marT="6338" marB="0" anchor="b"/>
                </a:tc>
                <a:extLst>
                  <a:ext uri="{0D108BD9-81ED-4DB2-BD59-A6C34878D82A}">
                    <a16:rowId xmlns:a16="http://schemas.microsoft.com/office/drawing/2014/main" val="504940700"/>
                  </a:ext>
                </a:extLst>
              </a:tr>
              <a:tr h="2461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u="none" strike="noStrike">
                          <a:effectLst/>
                        </a:rPr>
                        <a:t>5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900" u="none" strike="noStrike">
                          <a:effectLst/>
                        </a:rPr>
                        <a:t>125 ₽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900" u="none" strike="noStrike">
                          <a:effectLst/>
                        </a:rPr>
                        <a:t>10120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extLst>
                  <a:ext uri="{0D108BD9-81ED-4DB2-BD59-A6C34878D82A}">
                    <a16:rowId xmlns:a16="http://schemas.microsoft.com/office/drawing/2014/main" val="491580756"/>
                  </a:ext>
                </a:extLst>
              </a:tr>
              <a:tr h="2461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u="none" strike="noStrike">
                          <a:effectLst/>
                        </a:rPr>
                        <a:t>6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900" u="none" strike="noStrike">
                          <a:effectLst/>
                        </a:rPr>
                        <a:t>129 ₽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900" u="none" strike="noStrike">
                          <a:effectLst/>
                        </a:rPr>
                        <a:t>10217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extLst>
                  <a:ext uri="{0D108BD9-81ED-4DB2-BD59-A6C34878D82A}">
                    <a16:rowId xmlns:a16="http://schemas.microsoft.com/office/drawing/2014/main" val="363250941"/>
                  </a:ext>
                </a:extLst>
              </a:tr>
              <a:tr h="2461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u="none" strike="noStrike">
                          <a:effectLst/>
                        </a:rPr>
                        <a:t>7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900" u="none" strike="noStrike">
                          <a:effectLst/>
                        </a:rPr>
                        <a:t>141 ₽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900" u="none" strike="noStrike">
                          <a:effectLst/>
                        </a:rPr>
                        <a:t>10053</a:t>
                      </a: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extLst>
                  <a:ext uri="{0D108BD9-81ED-4DB2-BD59-A6C34878D82A}">
                    <a16:rowId xmlns:a16="http://schemas.microsoft.com/office/drawing/2014/main" val="1009416283"/>
                  </a:ext>
                </a:extLst>
              </a:tr>
              <a:tr h="2461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900" u="none" strike="noStrike">
                          <a:effectLst/>
                        </a:rPr>
                        <a:t>Общий итог</a:t>
                      </a:r>
                      <a:endParaRPr lang="ru-RU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900" u="none" strike="noStrike">
                          <a:effectLst/>
                        </a:rPr>
                        <a:t>132 ₽</a:t>
                      </a:r>
                      <a:endParaRPr lang="ru-RU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900" u="none" strike="noStrike" dirty="0">
                          <a:effectLst/>
                        </a:rPr>
                        <a:t>30390</a:t>
                      </a:r>
                      <a:endParaRPr lang="ru-RU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38" marR="6338" marT="6338" marB="0" anchor="b"/>
                </a:tc>
                <a:extLst>
                  <a:ext uri="{0D108BD9-81ED-4DB2-BD59-A6C34878D82A}">
                    <a16:rowId xmlns:a16="http://schemas.microsoft.com/office/drawing/2014/main" val="725020918"/>
                  </a:ext>
                </a:extLst>
              </a:tr>
            </a:tbl>
          </a:graphicData>
        </a:graphic>
      </p:graphicFrame>
      <p:sp>
        <p:nvSpPr>
          <p:cNvPr id="4" name="Объект 3">
            <a:extLst>
              <a:ext uri="{FF2B5EF4-FFF2-40B4-BE49-F238E27FC236}">
                <a16:creationId xmlns:a16="http://schemas.microsoft.com/office/drawing/2014/main" id="{EA11DED9-4938-087D-3AC3-1C5768834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0611" y="4060272"/>
            <a:ext cx="3552505" cy="194789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целях экономии решено снизить процент скидки по программе лояльности свыше 3% на 1 </a:t>
            </a:r>
            <a:r>
              <a:rPr lang="ru-RU" dirty="0" err="1"/>
              <a:t>п.п</a:t>
            </a:r>
            <a:r>
              <a:rPr lang="ru-RU" dirty="0"/>
              <a:t>.</a:t>
            </a:r>
          </a:p>
          <a:p>
            <a:r>
              <a:rPr lang="ru-RU" dirty="0"/>
              <a:t>Итог – уменьшение средней клиентской экономии после снижения скидок составил – 12,62%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E72378CF-2AF7-7862-30A8-943433D15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595853"/>
              </p:ext>
            </p:extLst>
          </p:nvPr>
        </p:nvGraphicFramePr>
        <p:xfrm>
          <a:off x="5960611" y="1908496"/>
          <a:ext cx="3938398" cy="14387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3141">
                  <a:extLst>
                    <a:ext uri="{9D8B030D-6E8A-4147-A177-3AD203B41FA5}">
                      <a16:colId xmlns:a16="http://schemas.microsoft.com/office/drawing/2014/main" val="73817051"/>
                    </a:ext>
                  </a:extLst>
                </a:gridCol>
                <a:gridCol w="1125257">
                  <a:extLst>
                    <a:ext uri="{9D8B030D-6E8A-4147-A177-3AD203B41FA5}">
                      <a16:colId xmlns:a16="http://schemas.microsoft.com/office/drawing/2014/main" val="242619790"/>
                    </a:ext>
                  </a:extLst>
                </a:gridCol>
              </a:tblGrid>
              <a:tr h="413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u="none" strike="noStrike" dirty="0">
                          <a:effectLst/>
                        </a:rPr>
                        <a:t>средняя скидка на клиента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100" u="none" strike="noStrike" dirty="0">
                          <a:effectLst/>
                        </a:rPr>
                        <a:t> 132 ₽ 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73773508"/>
                  </a:ext>
                </a:extLst>
              </a:tr>
              <a:tr h="49613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новая средняя скидка на клиента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100" u="none" strike="noStrike" dirty="0">
                          <a:effectLst/>
                        </a:rPr>
                        <a:t>115 ₽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95308591"/>
                  </a:ext>
                </a:extLst>
              </a:tr>
              <a:tr h="264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64191877"/>
                  </a:ext>
                </a:extLst>
              </a:tr>
              <a:tr h="264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100" u="none" strike="noStrike">
                          <a:effectLst/>
                        </a:rPr>
                        <a:t>процент изменения 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100" u="none" strike="noStrike" dirty="0">
                          <a:effectLst/>
                        </a:rPr>
                        <a:t>12,62%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71297913"/>
                  </a:ext>
                </a:extLst>
              </a:tr>
            </a:tbl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D072E69D-7B97-6FF2-1941-455C59425D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1832354"/>
              </p:ext>
            </p:extLst>
          </p:nvPr>
        </p:nvGraphicFramePr>
        <p:xfrm>
          <a:off x="563035" y="3429000"/>
          <a:ext cx="5100507" cy="3040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6096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5EF2A-E159-A442-1640-5D9C45823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307597"/>
            <a:ext cx="8596668" cy="1320800"/>
          </a:xfrm>
        </p:spPr>
        <p:txBody>
          <a:bodyPr/>
          <a:lstStyle/>
          <a:p>
            <a:r>
              <a:rPr lang="ru-RU" dirty="0"/>
              <a:t>Создание параметризированного графика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1964B5-C20F-9BE5-AB57-A618E082C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5" y="2021747"/>
            <a:ext cx="3642996" cy="4019614"/>
          </a:xfrm>
        </p:spPr>
        <p:txBody>
          <a:bodyPr/>
          <a:lstStyle/>
          <a:p>
            <a:r>
              <a:rPr lang="ru-RU" dirty="0"/>
              <a:t>На дашборде отражены суммарные платежи, количество платежей, средний платеж. </a:t>
            </a:r>
          </a:p>
          <a:p>
            <a:r>
              <a:rPr lang="ru-RU" dirty="0"/>
              <a:t>Также дашборд можно настраивать по адресу торговой точки, минимальному и максимальному платежу, валюте, платежной системе и коду валюты</a:t>
            </a:r>
          </a:p>
        </p:txBody>
      </p:sp>
      <p:pic>
        <p:nvPicPr>
          <p:cNvPr id="6" name="Рисунок 5" descr="Изображение выглядит как текст, снимок экрана, число, Шрифт">
            <a:extLst>
              <a:ext uri="{FF2B5EF4-FFF2-40B4-BE49-F238E27FC236}">
                <a16:creationId xmlns:a16="http://schemas.microsoft.com/office/drawing/2014/main" id="{0C74CD33-0B66-8E4E-CBC3-4398E5DD4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365" y="1253305"/>
            <a:ext cx="7093165" cy="529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081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CDEEE-5975-CE69-1A21-B614A0D88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094" y="1054217"/>
            <a:ext cx="8596668" cy="1320800"/>
          </a:xfrm>
        </p:spPr>
        <p:txBody>
          <a:bodyPr/>
          <a:lstStyle/>
          <a:p>
            <a:r>
              <a:rPr lang="ru-RU" dirty="0"/>
              <a:t>Анализ отчета-калькулятора </a:t>
            </a:r>
            <a:br>
              <a:rPr lang="ru-RU" dirty="0"/>
            </a:br>
            <a:r>
              <a:rPr lang="ru-RU" dirty="0"/>
              <a:t>коллеги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46168C-BE83-35B2-0CE6-7509811C2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780174"/>
            <a:ext cx="4184035" cy="3880772"/>
          </a:xfrm>
        </p:spPr>
        <p:txBody>
          <a:bodyPr/>
          <a:lstStyle/>
          <a:p>
            <a:r>
              <a:rPr lang="ru-RU" dirty="0"/>
              <a:t>Не верно рассчитан </a:t>
            </a:r>
            <a:r>
              <a:rPr lang="en-US" dirty="0" err="1"/>
              <a:t>pay_code</a:t>
            </a:r>
            <a:endParaRPr lang="en-US" dirty="0"/>
          </a:p>
          <a:p>
            <a:r>
              <a:rPr lang="ru-RU" dirty="0"/>
              <a:t>Не заложены скидки в расчеты</a:t>
            </a:r>
          </a:p>
          <a:p>
            <a:r>
              <a:rPr lang="ru-RU" dirty="0"/>
              <a:t>Не корректен расчет 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42FD6312-F439-DC6C-7134-2171808A19C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35305721"/>
              </p:ext>
            </p:extLst>
          </p:nvPr>
        </p:nvGraphicFramePr>
        <p:xfrm>
          <a:off x="5123499" y="4100976"/>
          <a:ext cx="4847264" cy="19403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283">
                  <a:extLst>
                    <a:ext uri="{9D8B030D-6E8A-4147-A177-3AD203B41FA5}">
                      <a16:colId xmlns:a16="http://schemas.microsoft.com/office/drawing/2014/main" val="2433644821"/>
                    </a:ext>
                  </a:extLst>
                </a:gridCol>
                <a:gridCol w="1017327">
                  <a:extLst>
                    <a:ext uri="{9D8B030D-6E8A-4147-A177-3AD203B41FA5}">
                      <a16:colId xmlns:a16="http://schemas.microsoft.com/office/drawing/2014/main" val="4171038959"/>
                    </a:ext>
                  </a:extLst>
                </a:gridCol>
                <a:gridCol w="1017327">
                  <a:extLst>
                    <a:ext uri="{9D8B030D-6E8A-4147-A177-3AD203B41FA5}">
                      <a16:colId xmlns:a16="http://schemas.microsoft.com/office/drawing/2014/main" val="70598171"/>
                    </a:ext>
                  </a:extLst>
                </a:gridCol>
                <a:gridCol w="1017327">
                  <a:extLst>
                    <a:ext uri="{9D8B030D-6E8A-4147-A177-3AD203B41FA5}">
                      <a16:colId xmlns:a16="http://schemas.microsoft.com/office/drawing/2014/main" val="4137546671"/>
                    </a:ext>
                  </a:extLst>
                </a:gridCol>
              </a:tblGrid>
              <a:tr h="3880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сервера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 dirty="0">
                          <a:effectLst/>
                        </a:rPr>
                        <a:t>1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3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65094846"/>
                  </a:ext>
                </a:extLst>
              </a:tr>
              <a:tr h="3880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всего операций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10622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30269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24159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58871225"/>
                  </a:ext>
                </a:extLst>
              </a:tr>
              <a:tr h="3880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скидка провайдера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р.0,06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р.0,08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р.0,02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00222360"/>
                  </a:ext>
                </a:extLst>
              </a:tr>
              <a:tr h="3880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сумма скидки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р.637,32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р.2 421,52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 dirty="0">
                          <a:effectLst/>
                        </a:rPr>
                        <a:t>р.483,18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49358982"/>
                  </a:ext>
                </a:extLst>
              </a:tr>
              <a:tr h="3880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u="none" strike="noStrike">
                          <a:effectLst/>
                        </a:rPr>
                        <a:t>общая скидка </a:t>
                      </a:r>
                      <a:endParaRPr lang="ru-RU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00" u="none" strike="noStrike" dirty="0">
                          <a:effectLst/>
                        </a:rPr>
                        <a:t>3542,02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9522439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16DB657-E3C4-C534-1C5B-4C72F6442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165584"/>
              </p:ext>
            </p:extLst>
          </p:nvPr>
        </p:nvGraphicFramePr>
        <p:xfrm>
          <a:off x="763398" y="4720560"/>
          <a:ext cx="3615656" cy="13208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1257">
                  <a:extLst>
                    <a:ext uri="{9D8B030D-6E8A-4147-A177-3AD203B41FA5}">
                      <a16:colId xmlns:a16="http://schemas.microsoft.com/office/drawing/2014/main" val="1163826699"/>
                    </a:ext>
                  </a:extLst>
                </a:gridCol>
                <a:gridCol w="1424399">
                  <a:extLst>
                    <a:ext uri="{9D8B030D-6E8A-4147-A177-3AD203B41FA5}">
                      <a16:colId xmlns:a16="http://schemas.microsoft.com/office/drawing/2014/main" val="1612023302"/>
                    </a:ext>
                  </a:extLst>
                </a:gridCol>
              </a:tblGrid>
              <a:tr h="4402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u="none" strike="noStrike" dirty="0">
                          <a:effectLst/>
                        </a:rPr>
                        <a:t>сумма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05254899"/>
                  </a:ext>
                </a:extLst>
              </a:tr>
              <a:tr h="4402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u="none" strike="noStrike" dirty="0">
                          <a:effectLst/>
                        </a:rPr>
                        <a:t>затраты без скидки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000" u="none" strike="noStrike" dirty="0">
                          <a:effectLst/>
                        </a:rPr>
                        <a:t>41 437,65 ₽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71592113"/>
                  </a:ext>
                </a:extLst>
              </a:tr>
              <a:tr h="4402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u="none" strike="noStrike" dirty="0">
                          <a:effectLst/>
                        </a:rPr>
                        <a:t>затраты со скидкой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000" u="none" strike="noStrike" dirty="0">
                          <a:effectLst/>
                        </a:rPr>
                        <a:t>37 895,63 ₽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403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11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1B3C54-2265-22F4-F0DD-5E1E41AE8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034" y="2992074"/>
            <a:ext cx="6570755" cy="132080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47666160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Override1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0563C1"/>
    </a:folHlink>
  </a:clrScheme>
  <a:fontScheme name="Sheets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705</TotalTime>
  <Words>792</Words>
  <Application>Microsoft Office PowerPoint</Application>
  <PresentationFormat>Широкоэкранный</PresentationFormat>
  <Paragraphs>157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Wingdings 3</vt:lpstr>
      <vt:lpstr>Аспект</vt:lpstr>
      <vt:lpstr>Курсовая работа по анализу первой недели сентября в крупном торговом ретейлере </vt:lpstr>
      <vt:lpstr>Анализ роста транзакций</vt:lpstr>
      <vt:lpstr>Анализ нагрузки на сервера</vt:lpstr>
      <vt:lpstr>Исследование длительности транзакций на кассах самообслуживания (КСО)</vt:lpstr>
      <vt:lpstr>Динамика длительности транзакций на кассах самообслуживания(КСО)</vt:lpstr>
      <vt:lpstr>Исследование 1 сентября по часам</vt:lpstr>
      <vt:lpstr>Исследование количества транзакций по торговым точкам 1 сентября</vt:lpstr>
      <vt:lpstr>Исследование длительности транзакций по платежным системам</vt:lpstr>
      <vt:lpstr>Общий вывод по исследованию сбоев обработки транзакций 1 сентября</vt:lpstr>
      <vt:lpstr>Исследования 5-7 сентября</vt:lpstr>
      <vt:lpstr>7 сентября – маркетинговая акция</vt:lpstr>
      <vt:lpstr>5-7 сентября потери в день из-за программы лояльности в среднем на 1 транзакцию</vt:lpstr>
      <vt:lpstr>Создание параметризированного графика</vt:lpstr>
      <vt:lpstr>Анализ отчета-калькулятора  коллеги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Анастасия Бусырева</dc:creator>
  <cp:lastModifiedBy>Анастасия Бусырева</cp:lastModifiedBy>
  <cp:revision>2</cp:revision>
  <dcterms:created xsi:type="dcterms:W3CDTF">2026-01-25T21:44:29Z</dcterms:created>
  <dcterms:modified xsi:type="dcterms:W3CDTF">2026-01-30T02:28:55Z</dcterms:modified>
</cp:coreProperties>
</file>